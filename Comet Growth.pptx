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jpeg" ContentType="image/jpeg"/>
  <Default Extension="gif" ContentType="image/gif"/>
  <Default Extension="svg" ContentType="image/svg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 embedTrueTypeFonts="1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notesMasterIdLst>
    <p:notesMasterId r:id="rId13"/>
  </p:notesMasterIdLst>
  <p:sldSz cx="12192000" cy="6858000" type="custom"/>
  <p:notesSz cx="12192000" cy="6858000"/>
  <p:embeddedFontLst>
    <p:embeddedFont>
      <p:font typeface="MiSans" charset="-122" pitchFamily="34"/>
      <p:regular r:id="rId12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font" Target="fonts/font1.fntdata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/>
          <p:nvPr>
            <p:ph type="body" idx="1"/>
          </p:nvPr>
        </p:nvSpPr>
        <p:spPr/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</p:notesMaster>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/>
            </a:r>
          </a:p>
          <a:p>
            <a:r>
              <a:rPr lang="en-US" sz="1200" noProof="1"/>
              <a:t>1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/>
            </a:r>
          </a:p>
          <a:p>
            <a:r>
              <a:rPr lang="en-US" sz="1200" noProof="1"/>
              <a:t>2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/>
            </a:r>
          </a:p>
          <a:p>
            <a:r>
              <a:rPr lang="en-US" sz="1200" noProof="1"/>
              <a:t>3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/>
            </a:r>
          </a:p>
          <a:p>
            <a:r>
              <a:rPr lang="en-US" sz="1200" noProof="1"/>
              <a:t>4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/>
            </a:r>
          </a:p>
          <a:p>
            <a:r>
              <a:rPr lang="en-US" sz="1200" noProof="1"/>
              <a:t>5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/>
            </a:r>
          </a:p>
          <a:p>
            <a:r>
              <a:rPr lang="en-US" sz="1200" noProof="1"/>
              <a:t>6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/>
            </a:r>
          </a:p>
          <a:p>
            <a:r>
              <a:rPr lang="en-US" sz="1200" noProof="1"/>
              <a:t>7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/>
            </a:r>
          </a:p>
          <a:p>
            <a:r>
              <a:rPr lang="en-US" sz="1200" noProof="1"/>
              <a:t>8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/>
            </a:r>
          </a:p>
          <a:p>
            <a:r>
              <a:rPr lang="en-US" sz="1200" noProof="1"/>
              <a:t>9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_1.png"/><Relationship Id="rId3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_1.png"/><Relationship Id="rId3" Type="http://schemas.openxmlformats.org/officeDocument/2006/relationships/notesSlide" Target="../notesSlides/notesSlide5.xml"/><Relationship Id="rId4" Type="http://schemas.openxmlformats.org/officeDocument/2006/relationships/hyperlink" Target="https://www.instagram.com/thecometuniverse/" TargetMode="External"/><Relationship Id="rId5" Type="http://schemas.openxmlformats.org/officeDocument/2006/relationships/hyperlink" Target="https://inc42.com/startups/can-comet-stir-up-a-sneaker-revolution-with-its-storytelling-playbook/" TargetMode="External"/><Relationship Id="rId6" Type="http://schemas.openxmlformats.org/officeDocument/2006/relationships/hyperlink" Target="https://elevationcapital.com/investing-in-comet" TargetMode="External"/><Relationship Id="rId7" Type="http://schemas.openxmlformats.org/officeDocument/2006/relationships/hyperlink" Target="https://www.grandviewresearch.com/horizon/outlook/sneakers-market/india" TargetMode="External"/><Relationship Id="rId8" Type="http://schemas.openxmlformats.org/officeDocument/2006/relationships/hyperlink" Target="https://www.wearcomet.com/products/x-lows-orchard" TargetMode="External"/><Relationship Id="rId9" Type="http://schemas.openxmlformats.org/officeDocument/2006/relationships/hyperlink" Target="https://www.cbinsights.com/company/comet-10/alternatives-competitors" TargetMode="External"/><Relationship Id="rId10" Type="http://schemas.openxmlformats.org/officeDocument/2006/relationships/hyperlink" Target="https://in.fashionnetwork.com/news/Comet-launches-first-flagship-store-in-bengaluru,1722104.html" TargetMode="External"/><Relationship Id="rId11" Type="http://schemas.openxmlformats.org/officeDocument/2006/relationships/hyperlink" Target="https://in.fashionnetwork.com/news/Comet-eyes-offline-expansion-in-new-delhi-and-mumbai-following-bengaluru-debut,1728896.html" TargetMode="External"/><Relationship Id="rId12" Type="http://schemas.openxmlformats.org/officeDocument/2006/relationships/hyperlink" Target="https://www.indianretailer.com/news/retail-india-news-comet-launches-first-flagship-sneaker-store-bangalores-indiranagar" TargetMode="External"/><Relationship Id="rId13" Type="http://schemas.openxmlformats.org/officeDocument/2006/relationships/hyperlink" Target="https://shop.broadwaylive.in/collections/comet" TargetMode="Externa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_1.png"/><Relationship Id="rId3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_1.png"/><Relationship Id="rId3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_1.png"/><Relationship Id="rId3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_1.png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1C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35770" y="1965960"/>
            <a:ext cx="2414270" cy="2414270"/>
          </a:xfrm>
          <a:prstGeom prst="ellipse">
            <a:avLst/>
          </a:prstGeom>
          <a:solidFill>
            <a:srgbClr val="320E1A"/>
          </a:solidFill>
          <a:ln>
            <a:noFill/>
          </a:ln>
        </p:spPr>
      </p:sp>
      <p:sp>
        <p:nvSpPr>
          <p:cNvPr id="3" name="Shape 1"/>
          <p:cNvSpPr/>
          <p:nvPr/>
        </p:nvSpPr>
        <p:spPr>
          <a:xfrm>
            <a:off x="9655810" y="2286000"/>
            <a:ext cx="1774190" cy="1774190"/>
          </a:xfrm>
          <a:prstGeom prst="ellipse">
            <a:avLst/>
          </a:prstGeom>
          <a:solidFill>
            <a:srgbClr val="C4123D"/>
          </a:solidFill>
          <a:ln>
            <a:noFill/>
          </a:ln>
        </p:spPr>
      </p:sp>
      <p:sp>
        <p:nvSpPr>
          <p:cNvPr id="4" name="Shape 2"/>
          <p:cNvSpPr/>
          <p:nvPr/>
        </p:nvSpPr>
        <p:spPr>
          <a:xfrm>
            <a:off x="10543540" y="3148330"/>
            <a:ext cx="2414270" cy="50800"/>
          </a:xfrm>
          <a:prstGeom prst="roundRect">
            <a:avLst>
              <a:gd name="adj" fmla="val 54545"/>
            </a:avLst>
          </a:prstGeom>
          <a:solidFill>
            <a:srgbClr val="C4123D">
              <a:alpha val="90196"/>
            </a:srgbClr>
          </a:solidFill>
          <a:ln>
            <a:noFill/>
          </a:ln>
        </p:spPr>
      </p:sp>
      <p:sp>
        <p:nvSpPr>
          <p:cNvPr id="5" name="Shape 3"/>
          <p:cNvSpPr/>
          <p:nvPr/>
        </p:nvSpPr>
        <p:spPr>
          <a:xfrm rot="1200000">
            <a:off x="10543540" y="3148330"/>
            <a:ext cx="2414270" cy="50800"/>
          </a:xfrm>
          <a:prstGeom prst="roundRect">
            <a:avLst>
              <a:gd name="adj" fmla="val 54545"/>
            </a:avLst>
          </a:prstGeom>
          <a:solidFill>
            <a:srgbClr val="C4123D">
              <a:alpha val="50196"/>
            </a:srgbClr>
          </a:solidFill>
          <a:ln>
            <a:noFill/>
          </a:ln>
        </p:spPr>
      </p:sp>
      <p:sp>
        <p:nvSpPr>
          <p:cNvPr id="6" name="Shape 4"/>
          <p:cNvSpPr/>
          <p:nvPr/>
        </p:nvSpPr>
        <p:spPr>
          <a:xfrm rot="2400000">
            <a:off x="10543540" y="3148330"/>
            <a:ext cx="2414270" cy="50800"/>
          </a:xfrm>
          <a:prstGeom prst="roundRect">
            <a:avLst>
              <a:gd name="adj" fmla="val 54545"/>
            </a:avLst>
          </a:prstGeom>
          <a:solidFill>
            <a:srgbClr val="C4123D">
              <a:alpha val="90196"/>
            </a:srgbClr>
          </a:solidFill>
          <a:ln>
            <a:noFill/>
          </a:ln>
        </p:spPr>
      </p:sp>
      <p:sp>
        <p:nvSpPr>
          <p:cNvPr id="7" name="Shape 5"/>
          <p:cNvSpPr/>
          <p:nvPr/>
        </p:nvSpPr>
        <p:spPr>
          <a:xfrm rot="3600000">
            <a:off x="10543540" y="3148330"/>
            <a:ext cx="2414270" cy="50800"/>
          </a:xfrm>
          <a:prstGeom prst="roundRect">
            <a:avLst>
              <a:gd name="adj" fmla="val 54545"/>
            </a:avLst>
          </a:prstGeom>
          <a:solidFill>
            <a:srgbClr val="C4123D">
              <a:alpha val="50196"/>
            </a:srgbClr>
          </a:solidFill>
          <a:ln>
            <a:noFill/>
          </a:ln>
        </p:spPr>
      </p:sp>
      <p:sp>
        <p:nvSpPr>
          <p:cNvPr id="8" name="Shape 6"/>
          <p:cNvSpPr/>
          <p:nvPr/>
        </p:nvSpPr>
        <p:spPr>
          <a:xfrm rot="4800000">
            <a:off x="10543540" y="3148330"/>
            <a:ext cx="2414270" cy="50800"/>
          </a:xfrm>
          <a:prstGeom prst="roundRect">
            <a:avLst>
              <a:gd name="adj" fmla="val 54545"/>
            </a:avLst>
          </a:prstGeom>
          <a:solidFill>
            <a:srgbClr val="C4123D">
              <a:alpha val="90196"/>
            </a:srgbClr>
          </a:solidFill>
          <a:ln>
            <a:noFill/>
          </a:ln>
        </p:spPr>
      </p:sp>
      <p:sp>
        <p:nvSpPr>
          <p:cNvPr id="9" name="Shape 7"/>
          <p:cNvSpPr/>
          <p:nvPr/>
        </p:nvSpPr>
        <p:spPr>
          <a:xfrm rot="6000000">
            <a:off x="10543540" y="3148330"/>
            <a:ext cx="2414270" cy="50800"/>
          </a:xfrm>
          <a:prstGeom prst="roundRect">
            <a:avLst>
              <a:gd name="adj" fmla="val 54545"/>
            </a:avLst>
          </a:prstGeom>
          <a:solidFill>
            <a:srgbClr val="C4123D">
              <a:alpha val="50196"/>
            </a:srgbClr>
          </a:solidFill>
          <a:ln>
            <a:noFill/>
          </a:ln>
        </p:spPr>
      </p:sp>
      <p:sp>
        <p:nvSpPr>
          <p:cNvPr id="10" name="Shape 8"/>
          <p:cNvSpPr/>
          <p:nvPr/>
        </p:nvSpPr>
        <p:spPr>
          <a:xfrm rot="7200000">
            <a:off x="10543540" y="3148330"/>
            <a:ext cx="2414270" cy="50800"/>
          </a:xfrm>
          <a:prstGeom prst="roundRect">
            <a:avLst>
              <a:gd name="adj" fmla="val 54545"/>
            </a:avLst>
          </a:prstGeom>
          <a:solidFill>
            <a:srgbClr val="C4123D">
              <a:alpha val="90196"/>
            </a:srgbClr>
          </a:solidFill>
          <a:ln>
            <a:noFill/>
          </a:ln>
        </p:spPr>
      </p:sp>
      <p:sp>
        <p:nvSpPr>
          <p:cNvPr id="11" name="Shape 9"/>
          <p:cNvSpPr/>
          <p:nvPr/>
        </p:nvSpPr>
        <p:spPr>
          <a:xfrm rot="8400000">
            <a:off x="10543540" y="3148330"/>
            <a:ext cx="2414270" cy="50800"/>
          </a:xfrm>
          <a:prstGeom prst="roundRect">
            <a:avLst>
              <a:gd name="adj" fmla="val 54545"/>
            </a:avLst>
          </a:prstGeom>
          <a:solidFill>
            <a:srgbClr val="C4123D">
              <a:alpha val="50196"/>
            </a:srgbClr>
          </a:solidFill>
          <a:ln>
            <a:noFill/>
          </a:ln>
        </p:spPr>
      </p:sp>
      <p:sp>
        <p:nvSpPr>
          <p:cNvPr id="12" name="Shape 10"/>
          <p:cNvSpPr/>
          <p:nvPr/>
        </p:nvSpPr>
        <p:spPr>
          <a:xfrm rot="9600000">
            <a:off x="10543540" y="3148330"/>
            <a:ext cx="2414270" cy="50800"/>
          </a:xfrm>
          <a:prstGeom prst="roundRect">
            <a:avLst>
              <a:gd name="adj" fmla="val 54545"/>
            </a:avLst>
          </a:prstGeom>
          <a:solidFill>
            <a:srgbClr val="C4123D">
              <a:alpha val="90196"/>
            </a:srgbClr>
          </a:solidFill>
          <a:ln>
            <a:noFill/>
          </a:ln>
        </p:spPr>
      </p:sp>
      <p:sp>
        <p:nvSpPr>
          <p:cNvPr id="13" name="Text 11"/>
          <p:cNvSpPr txBox="1"/>
          <p:nvPr/>
        </p:nvSpPr>
        <p:spPr>
          <a:xfrm>
            <a:off x="759460" y="1883410"/>
            <a:ext cx="7772400" cy="28321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 marL="0">
              <a:lnSpc>
                <a:spcPct val="120000"/>
              </a:lnSpc>
            </a:pPr>
            <a:r>
              <a:rPr lang="en-US" sz="1300" noProof="1" b="1" spc="200" kern="0">
                <a:solidFill>
                  <a:srgbClr val="E0436A"/>
                </a:solidFill>
                <a:latin typeface="Calibri"/>
                <a:ea typeface="Calibri"/>
              </a:rPr>
              <a:t>FOUNDATIONS OF AI IN BUSINESS  ·  CAPSTONE  ·  LEARNING TEAM 04</a:t>
            </a:r>
            <a:endParaRPr lang="en-US" sz="1300" noProof="1"/>
          </a:p>
        </p:txBody>
      </p:sp>
      <p:sp>
        <p:nvSpPr>
          <p:cNvPr id="14" name="Text 12"/>
          <p:cNvSpPr txBox="1"/>
          <p:nvPr/>
        </p:nvSpPr>
        <p:spPr>
          <a:xfrm>
            <a:off x="740410" y="2268220"/>
            <a:ext cx="9601200" cy="15087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 marL="0">
              <a:lnSpc>
                <a:spcPct val="110000"/>
              </a:lnSpc>
            </a:pPr>
            <a:r>
              <a:rPr lang="en-US" sz="4000" noProof="1" b="1">
                <a:solidFill>
                  <a:srgbClr val="EEF3FA"/>
                </a:solidFill>
                <a:latin typeface="Bookman Old Style"/>
                <a:ea typeface="Bookman Old Style"/>
              </a:rPr>
              <a:t>Comet Growth &amp;</a:t>
            </a:r>
            <a:r>
              <a:rPr lang="en-US" sz="4000" noProof="1" b="1" i="1">
                <a:solidFill>
                  <a:srgbClr val="C4123D"/>
                </a:solidFill>
                <a:latin typeface="Bookman Old Style"/>
                <a:ea typeface="Bookman Old Style"/>
              </a:rPr>
              <a:t>Positioning</a:t>
            </a:r>
            <a:r>
              <a:rPr lang="en-US" sz="4000" noProof="1" b="1">
                <a:solidFill>
                  <a:srgbClr val="EEF3FA"/>
                </a:solidFill>
                <a:latin typeface="Bookman Old Style"/>
                <a:ea typeface="Bookman Old Style"/>
              </a:rPr>
              <a:t> Advisor</a:t>
            </a:r>
            <a:endParaRPr lang="en-US" sz="4000" noProof="1"/>
          </a:p>
        </p:txBody>
      </p:sp>
      <p:sp>
        <p:nvSpPr>
          <p:cNvPr id="15" name="Text 13"/>
          <p:cNvSpPr txBox="1"/>
          <p:nvPr/>
        </p:nvSpPr>
        <p:spPr>
          <a:xfrm>
            <a:off x="759460" y="3959860"/>
            <a:ext cx="7114540" cy="32893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 marL="0">
              <a:lnSpc>
                <a:spcPct val="120000"/>
              </a:lnSpc>
            </a:pPr>
            <a:r>
              <a:rPr lang="en-US" sz="1800" noProof="1" i="1">
                <a:solidFill>
                  <a:srgbClr val="C4123D"/>
                </a:solidFill>
                <a:latin typeface="Bookman Old Style"/>
                <a:ea typeface="Bookman Old Style"/>
              </a:rPr>
              <a:t>Problem  ·  Evidence  ·  Solution</a:t>
            </a:r>
            <a:endParaRPr lang="en-US" sz="1800" noProof="1"/>
          </a:p>
        </p:txBody>
      </p:sp>
      <p:cxnSp>
        <p:nvCxnSpPr>
          <p:cNvPr id="16" name="Shape 14"/>
          <p:cNvCxnSpPr/>
          <p:nvPr/>
        </p:nvCxnSpPr>
        <p:spPr>
          <a:xfrm>
            <a:off x="759460" y="5257800"/>
            <a:ext cx="5331460" cy="12700"/>
          </a:xfrm>
          <a:prstGeom prst="straightConnector1">
            <a:avLst/>
          </a:prstGeom>
          <a:ln w="12700">
            <a:solidFill>
              <a:srgbClr val="481828"/>
            </a:solidFill>
          </a:ln>
        </p:spPr>
      </p:cxnSp>
      <p:sp>
        <p:nvSpPr>
          <p:cNvPr id="17" name="Text 15"/>
          <p:cNvSpPr txBox="1"/>
          <p:nvPr/>
        </p:nvSpPr>
        <p:spPr>
          <a:xfrm>
            <a:off x="759460" y="5458460"/>
            <a:ext cx="7872730" cy="2565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 marL="0">
              <a:lnSpc>
                <a:spcPct val="120000"/>
              </a:lnSpc>
            </a:pPr>
            <a:r>
              <a:rPr lang="en-US" sz="1250" noProof="1">
                <a:solidFill>
                  <a:srgbClr val="8D9AB0"/>
                </a:solidFill>
                <a:latin typeface="Calibri"/>
                <a:ea typeface="Calibri"/>
              </a:rPr>
              <a:t>TEAM   </a:t>
            </a:r>
            <a:r>
              <a:rPr lang="en-US" sz="1250" noProof="1">
                <a:solidFill>
                  <a:srgbClr val="EEF3FA"/>
                </a:solidFill>
                <a:latin typeface="Calibri"/>
                <a:ea typeface="Calibri"/>
              </a:rPr>
              <a:t>Learning Team No. 04</a:t>
            </a:r>
            <a:endParaRPr lang="en-US" sz="1250" noProof="1"/>
          </a:p>
        </p:txBody>
      </p:sp>
      <p:sp>
        <p:nvSpPr>
          <p:cNvPr id="18" name="Text 16"/>
          <p:cNvSpPr txBox="1"/>
          <p:nvPr/>
        </p:nvSpPr>
        <p:spPr>
          <a:xfrm>
            <a:off x="759460" y="5769610"/>
            <a:ext cx="8686800" cy="2565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 marL="0">
              <a:lnSpc>
                <a:spcPct val="120000"/>
              </a:lnSpc>
            </a:pPr>
            <a:r>
              <a:rPr lang="en-US" sz="1250" noProof="1">
                <a:solidFill>
                  <a:srgbClr val="8D9AB0"/>
                </a:solidFill>
                <a:latin typeface="Calibri"/>
                <a:ea typeface="Calibri"/>
              </a:rPr>
              <a:t>MEMBERS   </a:t>
            </a:r>
            <a:r>
              <a:rPr lang="en-US" sz="1250" noProof="1">
                <a:solidFill>
                  <a:srgbClr val="EEF3FA"/>
                </a:solidFill>
                <a:latin typeface="Calibri"/>
                <a:ea typeface="Calibri"/>
              </a:rPr>
              <a:t>Anandita Parihar, Joy Mann, Khushi Gupta, Rudransh Tewari</a:t>
            </a:r>
            <a:endParaRPr lang="en-US" sz="1250" noProof="1"/>
          </a:p>
        </p:txBody>
      </p:sp>
      <p:sp>
        <p:nvSpPr>
          <p:cNvPr id="19" name="Text 17"/>
          <p:cNvSpPr txBox="1"/>
          <p:nvPr/>
        </p:nvSpPr>
        <p:spPr>
          <a:xfrm>
            <a:off x="759460" y="6071870"/>
            <a:ext cx="3812540" cy="2565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 marL="0">
              <a:lnSpc>
                <a:spcPct val="120000"/>
              </a:lnSpc>
            </a:pPr>
            <a:r>
              <a:rPr lang="en-US" sz="1250" noProof="1">
                <a:solidFill>
                  <a:srgbClr val="8D9AB0"/>
                </a:solidFill>
                <a:latin typeface="Calibri"/>
                <a:ea typeface="Calibri"/>
              </a:rPr>
              <a:t>August 2026</a:t>
            </a:r>
            <a:endParaRPr lang="en-US" sz="1250" noProof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BEB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59460" y="55753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 marL="0">
              <a:lnSpc>
                <a:spcPct val="120000"/>
              </a:lnSpc>
            </a:pPr>
            <a:r>
              <a:rPr lang="en-US" sz="1300" noProof="1" b="1" spc="200" kern="0">
                <a:solidFill>
                  <a:srgbClr val="E85C6B"/>
                </a:solidFill>
                <a:latin typeface="Calibri"/>
                <a:ea typeface="Calibri"/>
              </a:rPr>
              <a:t>AGENDA</a:t>
            </a:r>
            <a:endParaRPr lang="en-US" sz="1300" noProof="1"/>
          </a:p>
        </p:txBody>
      </p:sp>
      <p:sp>
        <p:nvSpPr>
          <p:cNvPr id="3" name="Text 1"/>
          <p:cNvSpPr txBox="1"/>
          <p:nvPr/>
        </p:nvSpPr>
        <p:spPr>
          <a:xfrm>
            <a:off x="740410" y="859790"/>
            <a:ext cx="7315200" cy="55753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 marL="0">
              <a:lnSpc>
                <a:spcPct val="120000"/>
              </a:lnSpc>
            </a:pPr>
            <a:r>
              <a:rPr lang="en-US" sz="3600" noProof="1" b="1">
                <a:solidFill>
                  <a:srgbClr val="271119"/>
                </a:solidFill>
                <a:latin typeface="Bookman Old Style"/>
                <a:ea typeface="Bookman Old Style"/>
              </a:rPr>
              <a:t>What We'll Cover</a:t>
            </a:r>
            <a:endParaRPr lang="en-US" sz="3600" noProof="1"/>
          </a:p>
        </p:txBody>
      </p:sp>
      <p:sp>
        <p:nvSpPr>
          <p:cNvPr id="4" name="Text 2"/>
          <p:cNvSpPr txBox="1"/>
          <p:nvPr/>
        </p:nvSpPr>
        <p:spPr>
          <a:xfrm>
            <a:off x="759460" y="1499870"/>
            <a:ext cx="6346190" cy="2565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 marL="0">
              <a:lnSpc>
                <a:spcPct val="120000"/>
              </a:lnSpc>
            </a:pPr>
            <a:r>
              <a:rPr lang="en-US" sz="1400" noProof="1" i="1">
                <a:solidFill>
                  <a:srgbClr val="55637A"/>
                </a:solidFill>
                <a:latin typeface="Bookman Old Style"/>
                <a:ea typeface="Bookman Old Style"/>
              </a:rPr>
              <a:t>Three simple parts of our project.</a:t>
            </a:r>
            <a:endParaRPr lang="en-US" sz="1400" noProof="1"/>
          </a:p>
        </p:txBody>
      </p:sp>
      <p:sp>
        <p:nvSpPr>
          <p:cNvPr id="5" name="Shape 3"/>
          <p:cNvSpPr/>
          <p:nvPr/>
        </p:nvSpPr>
        <p:spPr>
          <a:xfrm>
            <a:off x="759460" y="2057400"/>
            <a:ext cx="3456940" cy="3812540"/>
          </a:xfrm>
          <a:prstGeom prst="roundRect">
            <a:avLst>
              <a:gd name="adj" fmla="val 1587"/>
            </a:avLst>
          </a:prstGeom>
          <a:solidFill>
            <a:srgbClr val="FDF6F7"/>
          </a:solidFill>
          <a:ln w="12700">
            <a:solidFill>
              <a:srgbClr val="F0CFD4"/>
            </a:solidFill>
          </a:ln>
        </p:spPr>
      </p:sp>
      <p:sp>
        <p:nvSpPr>
          <p:cNvPr id="6" name="Shape 4"/>
          <p:cNvSpPr/>
          <p:nvPr/>
        </p:nvSpPr>
        <p:spPr>
          <a:xfrm>
            <a:off x="759460" y="2057400"/>
            <a:ext cx="3456940" cy="73660"/>
          </a:xfrm>
          <a:prstGeom prst="roundRect">
            <a:avLst/>
          </a:prstGeom>
          <a:solidFill>
            <a:srgbClr val="E85C6B"/>
          </a:solidFill>
          <a:ln>
            <a:noFill/>
          </a:ln>
        </p:spPr>
      </p:sp>
      <p:sp>
        <p:nvSpPr>
          <p:cNvPr id="7" name="Text 5"/>
          <p:cNvSpPr txBox="1"/>
          <p:nvPr/>
        </p:nvSpPr>
        <p:spPr>
          <a:xfrm>
            <a:off x="1069340" y="2440940"/>
            <a:ext cx="1526540" cy="7594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 marL="0">
              <a:lnSpc>
                <a:spcPct val="120000"/>
              </a:lnSpc>
            </a:pPr>
            <a:r>
              <a:rPr lang="en-US" sz="5200" noProof="1" b="1">
                <a:solidFill>
                  <a:srgbClr val="D9E3F2"/>
                </a:solidFill>
                <a:latin typeface="Bookman Old Style"/>
                <a:ea typeface="Bookman Old Style"/>
              </a:rPr>
              <a:t>01</a:t>
            </a:r>
            <a:endParaRPr lang="en-US" sz="5200" noProof="1"/>
          </a:p>
        </p:txBody>
      </p:sp>
      <p:sp>
        <p:nvSpPr>
          <p:cNvPr id="8" name="Shape 6"/>
          <p:cNvSpPr/>
          <p:nvPr/>
        </p:nvSpPr>
        <p:spPr>
          <a:xfrm>
            <a:off x="3429000" y="2459990"/>
            <a:ext cx="657860" cy="657860"/>
          </a:xfrm>
          <a:prstGeom prst="ellipse">
            <a:avLst/>
          </a:prstGeom>
          <a:solidFill>
            <a:srgbClr val="1E0E13"/>
          </a:solidFill>
          <a:ln>
            <a:noFill/>
          </a:ln>
        </p:spPr>
      </p:sp>
      <p:sp>
        <p:nvSpPr>
          <p:cNvPr id="9" name="Text 7"/>
          <p:cNvSpPr txBox="1"/>
          <p:nvPr/>
        </p:nvSpPr>
        <p:spPr>
          <a:xfrm>
            <a:off x="3429000" y="2459990"/>
            <a:ext cx="657860" cy="6578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 marL="0">
              <a:lnSpc>
                <a:spcPct val="120000"/>
              </a:lnSpc>
            </a:pPr>
            <a:r>
              <a:rPr lang="en-US" sz="2000" noProof="1" b="1">
                <a:solidFill>
                  <a:srgbClr val="E85C6B"/>
                </a:solidFill>
                <a:latin typeface="Calibri"/>
                <a:ea typeface="Calibri"/>
              </a:rPr>
              <a:t>1</a:t>
            </a:r>
            <a:endParaRPr lang="en-US" sz="2000" noProof="1"/>
          </a:p>
        </p:txBody>
      </p:sp>
      <p:sp>
        <p:nvSpPr>
          <p:cNvPr id="10" name="Text 8"/>
          <p:cNvSpPr txBox="1"/>
          <p:nvPr/>
        </p:nvSpPr>
        <p:spPr>
          <a:xfrm>
            <a:off x="1069340" y="3401060"/>
            <a:ext cx="2797810" cy="3835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 marL="0">
              <a:lnSpc>
                <a:spcPct val="120000"/>
              </a:lnSpc>
            </a:pPr>
            <a:r>
              <a:rPr lang="en-US" sz="2300" noProof="1" b="1">
                <a:solidFill>
                  <a:srgbClr val="0B1E3D"/>
                </a:solidFill>
                <a:latin typeface="Bookman Old Style"/>
                <a:ea typeface="Bookman Old Style"/>
              </a:rPr>
              <a:t>Problem</a:t>
            </a:r>
            <a:endParaRPr lang="en-US" sz="2300" noProof="1"/>
          </a:p>
        </p:txBody>
      </p:sp>
      <p:sp>
        <p:nvSpPr>
          <p:cNvPr id="11" name="Text 9"/>
          <p:cNvSpPr txBox="1"/>
          <p:nvPr/>
        </p:nvSpPr>
        <p:spPr>
          <a:xfrm>
            <a:off x="1069340" y="3886200"/>
            <a:ext cx="2843530" cy="1143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 marL="0">
              <a:lnSpc>
                <a:spcPct val="125000"/>
              </a:lnSpc>
            </a:pPr>
            <a:r>
              <a:rPr lang="en-US" sz="1450" noProof="1">
                <a:solidFill>
                  <a:srgbClr val="55637A"/>
                </a:solidFill>
                <a:latin typeface="Calibri"/>
                <a:ea typeface="Calibri"/>
              </a:rPr>
              <a:t>The issue Comet needs to solve, explained simply.</a:t>
            </a:r>
            <a:endParaRPr lang="en-US" sz="1450" noProof="1"/>
          </a:p>
        </p:txBody>
      </p:sp>
      <p:sp>
        <p:nvSpPr>
          <p:cNvPr id="12" name="Shape 10"/>
          <p:cNvSpPr/>
          <p:nvPr/>
        </p:nvSpPr>
        <p:spPr>
          <a:xfrm>
            <a:off x="4371340" y="2057400"/>
            <a:ext cx="3456940" cy="3812540"/>
          </a:xfrm>
          <a:prstGeom prst="roundRect">
            <a:avLst>
              <a:gd name="adj" fmla="val 1587"/>
            </a:avLst>
          </a:prstGeom>
          <a:solidFill>
            <a:srgbClr val="FDF6F7"/>
          </a:solidFill>
          <a:ln w="12700">
            <a:solidFill>
              <a:srgbClr val="F0CFD4"/>
            </a:solidFill>
          </a:ln>
        </p:spPr>
      </p:sp>
      <p:sp>
        <p:nvSpPr>
          <p:cNvPr id="13" name="Shape 11"/>
          <p:cNvSpPr/>
          <p:nvPr/>
        </p:nvSpPr>
        <p:spPr>
          <a:xfrm>
            <a:off x="4371340" y="2057400"/>
            <a:ext cx="3456940" cy="73660"/>
          </a:xfrm>
          <a:prstGeom prst="roundRect">
            <a:avLst/>
          </a:prstGeom>
          <a:solidFill>
            <a:srgbClr val="E85C6B"/>
          </a:solidFill>
          <a:ln>
            <a:noFill/>
          </a:ln>
        </p:spPr>
      </p:sp>
      <p:sp>
        <p:nvSpPr>
          <p:cNvPr id="14" name="Text 12"/>
          <p:cNvSpPr txBox="1"/>
          <p:nvPr/>
        </p:nvSpPr>
        <p:spPr>
          <a:xfrm>
            <a:off x="4681220" y="2440940"/>
            <a:ext cx="1526540" cy="7594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 marL="0">
              <a:lnSpc>
                <a:spcPct val="120000"/>
              </a:lnSpc>
            </a:pPr>
            <a:r>
              <a:rPr lang="en-US" sz="5200" noProof="1" b="1">
                <a:solidFill>
                  <a:srgbClr val="D9E3F2"/>
                </a:solidFill>
                <a:latin typeface="Bookman Old Style"/>
                <a:ea typeface="Bookman Old Style"/>
              </a:rPr>
              <a:t>02</a:t>
            </a:r>
            <a:endParaRPr lang="en-US" sz="5200" noProof="1"/>
          </a:p>
        </p:txBody>
      </p:sp>
      <p:sp>
        <p:nvSpPr>
          <p:cNvPr id="15" name="Shape 13"/>
          <p:cNvSpPr/>
          <p:nvPr/>
        </p:nvSpPr>
        <p:spPr>
          <a:xfrm>
            <a:off x="7040880" y="2459990"/>
            <a:ext cx="657860" cy="657860"/>
          </a:xfrm>
          <a:prstGeom prst="ellipse">
            <a:avLst/>
          </a:prstGeom>
          <a:solidFill>
            <a:srgbClr val="1E0E13"/>
          </a:solidFill>
          <a:ln>
            <a:noFill/>
          </a:ln>
        </p:spPr>
      </p:sp>
      <p:sp>
        <p:nvSpPr>
          <p:cNvPr id="16" name="Text 14"/>
          <p:cNvSpPr txBox="1"/>
          <p:nvPr/>
        </p:nvSpPr>
        <p:spPr>
          <a:xfrm>
            <a:off x="7040880" y="2459990"/>
            <a:ext cx="657860" cy="6578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 marL="0">
              <a:lnSpc>
                <a:spcPct val="120000"/>
              </a:lnSpc>
            </a:pPr>
            <a:r>
              <a:rPr lang="en-US" sz="2000" noProof="1" b="1">
                <a:solidFill>
                  <a:srgbClr val="E85C6B"/>
                </a:solidFill>
                <a:latin typeface="Calibri"/>
                <a:ea typeface="Calibri"/>
              </a:rPr>
              <a:t>2</a:t>
            </a:r>
            <a:endParaRPr lang="en-US" sz="2000" noProof="1"/>
          </a:p>
        </p:txBody>
      </p:sp>
      <p:sp>
        <p:nvSpPr>
          <p:cNvPr id="17" name="Text 15"/>
          <p:cNvSpPr txBox="1"/>
          <p:nvPr/>
        </p:nvSpPr>
        <p:spPr>
          <a:xfrm>
            <a:off x="4681220" y="3401060"/>
            <a:ext cx="2797810" cy="3835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 marL="0">
              <a:lnSpc>
                <a:spcPct val="120000"/>
              </a:lnSpc>
            </a:pPr>
            <a:r>
              <a:rPr lang="en-US" sz="2300" noProof="1" b="1">
                <a:solidFill>
                  <a:srgbClr val="0B1E3D"/>
                </a:solidFill>
                <a:latin typeface="Bookman Old Style"/>
                <a:ea typeface="Bookman Old Style"/>
              </a:rPr>
              <a:t>Evidence</a:t>
            </a:r>
            <a:endParaRPr lang="en-US" sz="2300" noProof="1"/>
          </a:p>
        </p:txBody>
      </p:sp>
      <p:sp>
        <p:nvSpPr>
          <p:cNvPr id="18" name="Text 16"/>
          <p:cNvSpPr txBox="1"/>
          <p:nvPr/>
        </p:nvSpPr>
        <p:spPr>
          <a:xfrm>
            <a:off x="4681220" y="3886200"/>
            <a:ext cx="2843530" cy="1143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 marL="0">
              <a:lnSpc>
                <a:spcPct val="125000"/>
              </a:lnSpc>
            </a:pPr>
            <a:r>
              <a:rPr lang="en-US" sz="1450" noProof="1">
                <a:solidFill>
                  <a:srgbClr val="55637A"/>
                </a:solidFill>
                <a:latin typeface="Calibri"/>
                <a:ea typeface="Calibri"/>
              </a:rPr>
              <a:t>Real facts we found and checked, all from free, public sources.</a:t>
            </a:r>
            <a:endParaRPr lang="en-US" sz="1450" noProof="1"/>
          </a:p>
        </p:txBody>
      </p:sp>
      <p:sp>
        <p:nvSpPr>
          <p:cNvPr id="19" name="Shape 17"/>
          <p:cNvSpPr/>
          <p:nvPr/>
        </p:nvSpPr>
        <p:spPr>
          <a:xfrm>
            <a:off x="7983220" y="2057400"/>
            <a:ext cx="3456940" cy="3812540"/>
          </a:xfrm>
          <a:prstGeom prst="roundRect">
            <a:avLst>
              <a:gd name="adj" fmla="val 1587"/>
            </a:avLst>
          </a:prstGeom>
          <a:solidFill>
            <a:srgbClr val="FDF6F7"/>
          </a:solidFill>
          <a:ln w="12700">
            <a:solidFill>
              <a:srgbClr val="F0CFD4"/>
            </a:solidFill>
          </a:ln>
        </p:spPr>
      </p:sp>
      <p:sp>
        <p:nvSpPr>
          <p:cNvPr id="20" name="Shape 18"/>
          <p:cNvSpPr/>
          <p:nvPr/>
        </p:nvSpPr>
        <p:spPr>
          <a:xfrm>
            <a:off x="7983220" y="2057400"/>
            <a:ext cx="3456940" cy="73660"/>
          </a:xfrm>
          <a:prstGeom prst="roundRect">
            <a:avLst/>
          </a:prstGeom>
          <a:solidFill>
            <a:srgbClr val="E85C6B"/>
          </a:solidFill>
          <a:ln>
            <a:noFill/>
          </a:ln>
        </p:spPr>
      </p:sp>
      <p:sp>
        <p:nvSpPr>
          <p:cNvPr id="21" name="Text 19"/>
          <p:cNvSpPr txBox="1"/>
          <p:nvPr/>
        </p:nvSpPr>
        <p:spPr>
          <a:xfrm>
            <a:off x="8293100" y="2440940"/>
            <a:ext cx="1526540" cy="7594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 marL="0">
              <a:lnSpc>
                <a:spcPct val="120000"/>
              </a:lnSpc>
            </a:pPr>
            <a:r>
              <a:rPr lang="en-US" sz="5200" noProof="1" b="1">
                <a:solidFill>
                  <a:srgbClr val="D9E3F2"/>
                </a:solidFill>
                <a:latin typeface="Bookman Old Style"/>
                <a:ea typeface="Bookman Old Style"/>
              </a:rPr>
              <a:t>03</a:t>
            </a:r>
            <a:endParaRPr lang="en-US" sz="5200" noProof="1"/>
          </a:p>
        </p:txBody>
      </p:sp>
      <p:sp>
        <p:nvSpPr>
          <p:cNvPr id="22" name="Shape 20"/>
          <p:cNvSpPr/>
          <p:nvPr/>
        </p:nvSpPr>
        <p:spPr>
          <a:xfrm>
            <a:off x="10652760" y="2459990"/>
            <a:ext cx="657860" cy="657860"/>
          </a:xfrm>
          <a:prstGeom prst="ellipse">
            <a:avLst/>
          </a:prstGeom>
          <a:solidFill>
            <a:srgbClr val="1E0E13"/>
          </a:solidFill>
          <a:ln>
            <a:noFill/>
          </a:ln>
        </p:spPr>
      </p:sp>
      <p:sp>
        <p:nvSpPr>
          <p:cNvPr id="23" name="Text 21"/>
          <p:cNvSpPr txBox="1"/>
          <p:nvPr/>
        </p:nvSpPr>
        <p:spPr>
          <a:xfrm>
            <a:off x="10652760" y="2459990"/>
            <a:ext cx="657860" cy="6578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 marL="0">
              <a:lnSpc>
                <a:spcPct val="120000"/>
              </a:lnSpc>
            </a:pPr>
            <a:r>
              <a:rPr lang="en-US" sz="2000" noProof="1" b="1">
                <a:solidFill>
                  <a:srgbClr val="E85C6B"/>
                </a:solidFill>
                <a:latin typeface="Calibri"/>
                <a:ea typeface="Calibri"/>
              </a:rPr>
              <a:t>3</a:t>
            </a:r>
            <a:endParaRPr lang="en-US" sz="2000" noProof="1"/>
          </a:p>
        </p:txBody>
      </p:sp>
      <p:sp>
        <p:nvSpPr>
          <p:cNvPr id="24" name="Text 22"/>
          <p:cNvSpPr txBox="1"/>
          <p:nvPr/>
        </p:nvSpPr>
        <p:spPr>
          <a:xfrm>
            <a:off x="8293100" y="3401060"/>
            <a:ext cx="2797810" cy="3835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 marL="0">
              <a:lnSpc>
                <a:spcPct val="120000"/>
              </a:lnSpc>
            </a:pPr>
            <a:r>
              <a:rPr lang="en-US" sz="2300" noProof="1" b="1">
                <a:solidFill>
                  <a:srgbClr val="0B1E3D"/>
                </a:solidFill>
                <a:latin typeface="Bookman Old Style"/>
                <a:ea typeface="Bookman Old Style"/>
              </a:rPr>
              <a:t>Solution</a:t>
            </a:r>
            <a:endParaRPr lang="en-US" sz="2300" noProof="1"/>
          </a:p>
        </p:txBody>
      </p:sp>
      <p:sp>
        <p:nvSpPr>
          <p:cNvPr id="25" name="Text 23"/>
          <p:cNvSpPr txBox="1"/>
          <p:nvPr/>
        </p:nvSpPr>
        <p:spPr>
          <a:xfrm>
            <a:off x="8293100" y="3886200"/>
            <a:ext cx="2843530" cy="1143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 marL="0">
              <a:lnSpc>
                <a:spcPct val="125000"/>
              </a:lnSpc>
            </a:pPr>
            <a:r>
              <a:rPr lang="en-US" sz="1450" noProof="1">
                <a:solidFill>
                  <a:srgbClr val="55637A"/>
                </a:solidFill>
                <a:latin typeface="Calibri"/>
                <a:ea typeface="Calibri"/>
              </a:rPr>
              <a:t>How we turn the evidence, plus AI, into one clear recommendation.</a:t>
            </a:r>
            <a:endParaRPr lang="en-US" sz="1450" noProof="1"/>
          </a:p>
        </p:txBody>
      </p:sp>
      <p:sp>
        <p:nvSpPr>
          <p:cNvPr id="26" name="Text 24"/>
          <p:cNvSpPr txBox="1"/>
          <p:nvPr/>
        </p:nvSpPr>
        <p:spPr>
          <a:xfrm>
            <a:off x="759460" y="6501130"/>
            <a:ext cx="5486400" cy="17399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 marL="0">
              <a:lnSpc>
                <a:spcPct val="120000"/>
              </a:lnSpc>
            </a:pPr>
            <a:r>
              <a:rPr lang="en-US" sz="950" noProof="1">
                <a:solidFill>
                  <a:srgbClr val="55637A"/>
                </a:solidFill>
                <a:latin typeface="Calibri"/>
                <a:ea typeface="Calibri"/>
              </a:rPr>
              <a:t>Capstone WIP  ·  Foundations of AI in Business  ·  Learning Team 04</a:t>
            </a:r>
            <a:endParaRPr lang="en-US" sz="950" noProof="1"/>
          </a:p>
        </p:txBody>
      </p:sp>
      <p:sp>
        <p:nvSpPr>
          <p:cNvPr id="27" name="Text 25"/>
          <p:cNvSpPr txBox="1"/>
          <p:nvPr/>
        </p:nvSpPr>
        <p:spPr>
          <a:xfrm>
            <a:off x="11046460" y="6501130"/>
            <a:ext cx="383540" cy="17399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r" marL="0">
              <a:lnSpc>
                <a:spcPct val="120000"/>
              </a:lnSpc>
            </a:pPr>
            <a:r>
              <a:rPr lang="en-US" sz="950" noProof="1">
                <a:solidFill>
                  <a:srgbClr val="55637A"/>
                </a:solidFill>
                <a:latin typeface="Calibri"/>
                <a:ea typeface="Calibri"/>
              </a:rPr>
              <a:t>2</a:t>
            </a:r>
            <a:endParaRPr lang="en-US" sz="950" noProof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BED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59460" y="55753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 marL="0">
              <a:lnSpc>
                <a:spcPct val="120000"/>
              </a:lnSpc>
            </a:pPr>
            <a:r>
              <a:rPr lang="en-US" sz="1300" noProof="1" b="1" spc="200" kern="0">
                <a:solidFill>
                  <a:srgbClr val="D64526"/>
                </a:solidFill>
                <a:latin typeface="Calibri"/>
                <a:ea typeface="Calibri"/>
              </a:rPr>
              <a:t>THE BIG PICTURE</a:t>
            </a:r>
            <a:endParaRPr lang="en-US" sz="1300" noProof="1"/>
          </a:p>
        </p:txBody>
      </p:sp>
      <p:sp>
        <p:nvSpPr>
          <p:cNvPr id="3" name="Text 1"/>
          <p:cNvSpPr txBox="1"/>
          <p:nvPr/>
        </p:nvSpPr>
        <p:spPr>
          <a:xfrm>
            <a:off x="740410" y="859790"/>
            <a:ext cx="8686800" cy="55753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 marL="0">
              <a:lnSpc>
                <a:spcPct val="120000"/>
              </a:lnSpc>
            </a:pPr>
            <a:r>
              <a:rPr lang="en-US" sz="3400" noProof="1" b="1">
                <a:solidFill>
                  <a:srgbClr val="271009"/>
                </a:solidFill>
                <a:latin typeface="Bookman Old Style"/>
                <a:ea typeface="Bookman Old Style"/>
              </a:rPr>
              <a:t>The Problem — and Our Solution</a:t>
            </a:r>
            <a:endParaRPr lang="en-US" sz="3400" noProof="1"/>
          </a:p>
        </p:txBody>
      </p:sp>
      <p:sp>
        <p:nvSpPr>
          <p:cNvPr id="4" name="Text 2"/>
          <p:cNvSpPr txBox="1"/>
          <p:nvPr/>
        </p:nvSpPr>
        <p:spPr>
          <a:xfrm>
            <a:off x="759460" y="1499870"/>
            <a:ext cx="6346190" cy="2565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 marL="0">
              <a:lnSpc>
                <a:spcPct val="120000"/>
              </a:lnSpc>
            </a:pPr>
            <a:r>
              <a:rPr lang="en-US" sz="1400" noProof="1" i="1">
                <a:solidFill>
                  <a:srgbClr val="55637A"/>
                </a:solidFill>
                <a:latin typeface="Bookman Old Style"/>
                <a:ea typeface="Bookman Old Style"/>
              </a:rPr>
              <a:t>Stated simply, in one place.</a:t>
            </a:r>
            <a:endParaRPr lang="en-US" sz="1400" noProof="1"/>
          </a:p>
        </p:txBody>
      </p:sp>
      <p:sp>
        <p:nvSpPr>
          <p:cNvPr id="5" name="Shape 3"/>
          <p:cNvSpPr/>
          <p:nvPr/>
        </p:nvSpPr>
        <p:spPr>
          <a:xfrm>
            <a:off x="759460" y="1983740"/>
            <a:ext cx="6346190" cy="4041140"/>
          </a:xfrm>
          <a:prstGeom prst="roundRect">
            <a:avLst>
              <a:gd name="adj" fmla="val 1357"/>
            </a:avLst>
          </a:prstGeom>
          <a:solidFill>
            <a:srgbClr val="FDF5F1"/>
          </a:solidFill>
          <a:ln w="12700">
            <a:solidFill>
              <a:srgbClr val="EFCDBF"/>
            </a:solidFill>
          </a:ln>
        </p:spPr>
      </p:sp>
      <p:sp>
        <p:nvSpPr>
          <p:cNvPr id="6" name="Shape 4"/>
          <p:cNvSpPr/>
          <p:nvPr/>
        </p:nvSpPr>
        <p:spPr>
          <a:xfrm>
            <a:off x="1170940" y="2386330"/>
            <a:ext cx="585470" cy="585470"/>
          </a:xfrm>
          <a:prstGeom prst="ellipse">
            <a:avLst/>
          </a:prstGeom>
          <a:solidFill>
            <a:srgbClr val="D64526"/>
          </a:solidFill>
          <a:ln>
            <a:noFill/>
          </a:ln>
        </p:spPr>
      </p:sp>
      <p:sp>
        <p:nvSpPr>
          <p:cNvPr id="7" name="Text 5"/>
          <p:cNvSpPr txBox="1"/>
          <p:nvPr/>
        </p:nvSpPr>
        <p:spPr>
          <a:xfrm>
            <a:off x="1170940" y="2386330"/>
            <a:ext cx="585470" cy="58547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 marL="0">
              <a:lnSpc>
                <a:spcPct val="120000"/>
              </a:lnSpc>
            </a:pPr>
            <a:r>
              <a:rPr lang="en-US" sz="2200" noProof="1" b="1">
                <a:solidFill>
                  <a:srgbClr val="F3F6FB"/>
                </a:solidFill>
                <a:latin typeface="Calibri"/>
                <a:ea typeface="Calibri"/>
              </a:rPr>
              <a:t>!</a:t>
            </a:r>
            <a:endParaRPr lang="en-US" sz="2200" noProof="1"/>
          </a:p>
        </p:txBody>
      </p:sp>
      <p:sp>
        <p:nvSpPr>
          <p:cNvPr id="8" name="Text 6"/>
          <p:cNvSpPr txBox="1"/>
          <p:nvPr/>
        </p:nvSpPr>
        <p:spPr>
          <a:xfrm>
            <a:off x="1929130" y="2542540"/>
            <a:ext cx="2542540" cy="28321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 marL="0">
              <a:lnSpc>
                <a:spcPct val="120000"/>
              </a:lnSpc>
            </a:pPr>
            <a:r>
              <a:rPr lang="en-US" sz="1200" noProof="1" b="1" spc="150" kern="0">
                <a:solidFill>
                  <a:srgbClr val="D64526"/>
                </a:solidFill>
                <a:latin typeface="Calibri"/>
                <a:ea typeface="Calibri"/>
              </a:rPr>
              <a:t>THE PROBLEM</a:t>
            </a:r>
            <a:endParaRPr lang="en-US" sz="1200" noProof="1"/>
          </a:p>
        </p:txBody>
      </p:sp>
      <p:sp>
        <p:nvSpPr>
          <p:cNvPr id="9" name="Text 7"/>
          <p:cNvSpPr txBox="1"/>
          <p:nvPr/>
        </p:nvSpPr>
        <p:spPr>
          <a:xfrm>
            <a:off x="1170940" y="3200400"/>
            <a:ext cx="5541010" cy="1143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 marL="0">
              <a:lnSpc>
                <a:spcPct val="125000"/>
              </a:lnSpc>
            </a:pPr>
            <a:r>
              <a:rPr lang="en-US" sz="1700" noProof="1" b="1">
                <a:solidFill>
                  <a:srgbClr val="271009"/>
                </a:solidFill>
                <a:latin typeface="Bookman Old Style"/>
                <a:ea typeface="Bookman Old Style"/>
              </a:rPr>
              <a:t>Comet is a fast-growing brand with ₹29.1cr revenue in FY25. It's chasing a share of India's $4.7B sneaker market by 2030, against giants like Nike, Adidas, Puma and New Balance.</a:t>
            </a:r>
            <a:endParaRPr lang="en-US" sz="1700" noProof="1"/>
          </a:p>
        </p:txBody>
      </p:sp>
      <p:sp>
        <p:nvSpPr>
          <p:cNvPr id="10" name="Text 8"/>
          <p:cNvSpPr txBox="1"/>
          <p:nvPr/>
        </p:nvSpPr>
        <p:spPr>
          <a:xfrm>
            <a:off x="1170940" y="4371340"/>
            <a:ext cx="5541010" cy="14630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 marL="0">
              <a:lnSpc>
                <a:spcPct val="130000"/>
              </a:lnSpc>
            </a:pPr>
            <a:r>
              <a:rPr lang="en-US" sz="1400" noProof="1">
                <a:solidFill>
                  <a:srgbClr val="55637A"/>
                </a:solidFill>
                <a:latin typeface="Calibri"/>
                <a:ea typeface="Calibri"/>
              </a:rPr>
              <a:t>Comet doesn't yet know what grows its customer base most: awareness, price, or product range. Picking the wrong one could hurt the premium image that supports its price.</a:t>
            </a:r>
            <a:endParaRPr lang="en-US" sz="1400" noProof="1"/>
          </a:p>
        </p:txBody>
      </p:sp>
      <p:sp>
        <p:nvSpPr>
          <p:cNvPr id="11" name="Shape 9"/>
          <p:cNvSpPr/>
          <p:nvPr/>
        </p:nvSpPr>
        <p:spPr>
          <a:xfrm>
            <a:off x="7617460" y="1983740"/>
            <a:ext cx="3812540" cy="4041140"/>
          </a:xfrm>
          <a:prstGeom prst="roundRect">
            <a:avLst>
              <a:gd name="adj" fmla="val 1439"/>
            </a:avLst>
          </a:prstGeom>
          <a:solidFill>
            <a:srgbClr val="2E120B"/>
          </a:solidFill>
          <a:ln>
            <a:noFill/>
          </a:ln>
        </p:spPr>
      </p:sp>
      <p:sp>
        <p:nvSpPr>
          <p:cNvPr id="12" name="Shape 10"/>
          <p:cNvSpPr/>
          <p:nvPr/>
        </p:nvSpPr>
        <p:spPr>
          <a:xfrm>
            <a:off x="7973060" y="2386330"/>
            <a:ext cx="585470" cy="585470"/>
          </a:xfrm>
          <a:prstGeom prst="ellipse">
            <a:avLst/>
          </a:prstGeom>
          <a:solidFill>
            <a:srgbClr val="D64526"/>
          </a:solidFill>
          <a:ln>
            <a:noFill/>
          </a:ln>
        </p:spPr>
      </p:sp>
      <p:sp>
        <p:nvSpPr>
          <p:cNvPr id="13" name="Text 11"/>
          <p:cNvSpPr txBox="1"/>
          <p:nvPr/>
        </p:nvSpPr>
        <p:spPr>
          <a:xfrm>
            <a:off x="7973060" y="2386330"/>
            <a:ext cx="585470" cy="58547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 marL="0">
              <a:lnSpc>
                <a:spcPct val="120000"/>
              </a:lnSpc>
            </a:pPr>
            <a:r>
              <a:rPr lang="en-US" sz="2000" noProof="1" b="1">
                <a:solidFill>
                  <a:srgbClr val="2E120B"/>
                </a:solidFill>
                <a:latin typeface="Calibri"/>
                <a:ea typeface="Calibri"/>
              </a:rPr>
              <a:t>✓</a:t>
            </a:r>
            <a:endParaRPr lang="en-US" sz="2000" noProof="1"/>
          </a:p>
        </p:txBody>
      </p:sp>
      <p:sp>
        <p:nvSpPr>
          <p:cNvPr id="14" name="Text 12"/>
          <p:cNvSpPr txBox="1"/>
          <p:nvPr/>
        </p:nvSpPr>
        <p:spPr>
          <a:xfrm>
            <a:off x="8741410" y="2542540"/>
            <a:ext cx="2468880" cy="28321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 marL="0">
              <a:lnSpc>
                <a:spcPct val="120000"/>
              </a:lnSpc>
            </a:pPr>
            <a:r>
              <a:rPr lang="en-US" sz="1200" noProof="1" b="1" spc="150" kern="0">
                <a:solidFill>
                  <a:srgbClr val="F0805E"/>
                </a:solidFill>
                <a:latin typeface="Calibri"/>
                <a:ea typeface="Calibri"/>
              </a:rPr>
              <a:t>OUR SOLUTION</a:t>
            </a:r>
            <a:endParaRPr lang="en-US" sz="1200" noProof="1"/>
          </a:p>
        </p:txBody>
      </p:sp>
      <p:sp>
        <p:nvSpPr>
          <p:cNvPr id="15" name="Text 13"/>
          <p:cNvSpPr txBox="1"/>
          <p:nvPr/>
        </p:nvSpPr>
        <p:spPr>
          <a:xfrm>
            <a:off x="7973060" y="3063240"/>
            <a:ext cx="3200400" cy="7772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 marL="0">
              <a:lnSpc>
                <a:spcPct val="105000"/>
              </a:lnSpc>
            </a:pPr>
            <a:r>
              <a:rPr lang="en-US" sz="1900" noProof="1" b="1">
                <a:solidFill>
                  <a:srgbClr val="F9E6DE"/>
                </a:solidFill>
                <a:latin typeface="Bookman Old Style"/>
                <a:ea typeface="Bookman Old Style"/>
              </a:rPr>
              <a:t>Comet Growth &amp;</a:t>
            </a:r>
            <a:endParaRPr lang="en-US" sz="1900" noProof="1"/>
          </a:p>
          <a:p>
            <a:pPr algn="l" marL="0">
              <a:lnSpc>
                <a:spcPct val="105000"/>
              </a:lnSpc>
            </a:pPr>
            <a:r>
              <a:rPr lang="en-US" sz="1900" noProof="1" b="1">
                <a:solidFill>
                  <a:srgbClr val="F9E6DE"/>
                </a:solidFill>
                <a:latin typeface="Bookman Old Style"/>
                <a:ea typeface="Bookman Old Style"/>
              </a:rPr>
              <a:t>Positioning Advisor</a:t>
            </a:r>
            <a:endParaRPr lang="en-US" sz="1900" noProof="1"/>
          </a:p>
        </p:txBody>
      </p:sp>
      <p:sp>
        <p:nvSpPr>
          <p:cNvPr id="16" name="Text 14"/>
          <p:cNvSpPr txBox="1"/>
          <p:nvPr/>
        </p:nvSpPr>
        <p:spPr>
          <a:xfrm>
            <a:off x="7973060" y="3886200"/>
            <a:ext cx="3108960" cy="12344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 marL="0">
              <a:lnSpc>
                <a:spcPct val="125000"/>
              </a:lnSpc>
            </a:pPr>
            <a:r>
              <a:rPr lang="en-US" sz="1250" noProof="1">
                <a:solidFill>
                  <a:srgbClr val="8D9AB0"/>
                </a:solidFill>
                <a:latin typeface="Calibri"/>
                <a:ea typeface="Calibri"/>
              </a:rPr>
              <a:t>An AI chatbot that reviews verified evidence on awareness, price and range — then recommends what matters most for growth, and why.</a:t>
            </a:r>
            <a:endParaRPr lang="en-US" sz="1250" noProof="1"/>
          </a:p>
        </p:txBody>
      </p:sp>
      <p:cxnSp>
        <p:nvCxnSpPr>
          <p:cNvPr id="17" name="Shape 15"/>
          <p:cNvCxnSpPr/>
          <p:nvPr/>
        </p:nvCxnSpPr>
        <p:spPr>
          <a:xfrm>
            <a:off x="7973060" y="5184140"/>
            <a:ext cx="3100070" cy="12700"/>
          </a:xfrm>
          <a:prstGeom prst="straightConnector1">
            <a:avLst/>
          </a:prstGeom>
          <a:ln w="12700">
            <a:solidFill>
              <a:srgbClr val="4A1E12"/>
            </a:solidFill>
          </a:ln>
        </p:spPr>
      </p:cxnSp>
      <p:sp>
        <p:nvSpPr>
          <p:cNvPr id="18" name="Text 16"/>
          <p:cNvSpPr txBox="1"/>
          <p:nvPr/>
        </p:nvSpPr>
        <p:spPr>
          <a:xfrm>
            <a:off x="7973060" y="5331460"/>
            <a:ext cx="3100070" cy="64008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 marL="0">
              <a:lnSpc>
                <a:spcPct val="120000"/>
              </a:lnSpc>
            </a:pPr>
            <a:r>
              <a:rPr lang="en-US" sz="1200" noProof="1" b="1" i="1">
                <a:solidFill>
                  <a:srgbClr val="F9E6DE"/>
                </a:solidFill>
                <a:latin typeface="Calibri"/>
                <a:ea typeface="Calibri"/>
              </a:rPr>
              <a:t>It doesn't just react — it explains why, using real evidence.</a:t>
            </a:r>
            <a:endParaRPr lang="en-US" sz="1200" noProof="1"/>
          </a:p>
        </p:txBody>
      </p:sp>
      <p:sp>
        <p:nvSpPr>
          <p:cNvPr id="19" name="Text 17"/>
          <p:cNvSpPr txBox="1"/>
          <p:nvPr/>
        </p:nvSpPr>
        <p:spPr>
          <a:xfrm>
            <a:off x="759460" y="6501130"/>
            <a:ext cx="5486400" cy="17399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 marL="0">
              <a:lnSpc>
                <a:spcPct val="120000"/>
              </a:lnSpc>
            </a:pPr>
            <a:r>
              <a:rPr lang="en-US" sz="950" noProof="1">
                <a:solidFill>
                  <a:srgbClr val="55637A"/>
                </a:solidFill>
                <a:latin typeface="Calibri"/>
                <a:ea typeface="Calibri"/>
              </a:rPr>
              <a:t>Capstone WIP  ·  Foundations of AI in Business  ·  Learning Team 04</a:t>
            </a:r>
            <a:endParaRPr lang="en-US" sz="950" noProof="1"/>
          </a:p>
        </p:txBody>
      </p:sp>
      <p:sp>
        <p:nvSpPr>
          <p:cNvPr id="20" name="Text 18"/>
          <p:cNvSpPr txBox="1"/>
          <p:nvPr/>
        </p:nvSpPr>
        <p:spPr>
          <a:xfrm>
            <a:off x="11046460" y="6501130"/>
            <a:ext cx="383540" cy="17399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r" marL="0">
              <a:lnSpc>
                <a:spcPct val="120000"/>
              </a:lnSpc>
            </a:pPr>
            <a:r>
              <a:rPr lang="en-US" sz="950" noProof="1">
                <a:solidFill>
                  <a:srgbClr val="55637A"/>
                </a:solidFill>
                <a:latin typeface="Calibri"/>
                <a:ea typeface="Calibri"/>
              </a:rPr>
              <a:t>3</a:t>
            </a:r>
            <a:endParaRPr lang="en-US" sz="950" noProof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0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59460" y="55753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 marL="0">
              <a:lnSpc>
                <a:spcPct val="120000"/>
              </a:lnSpc>
            </a:pPr>
            <a:r>
              <a:rPr lang="en-US" sz="1300" noProof="1" b="1" spc="200" kern="0">
                <a:solidFill>
                  <a:srgbClr val="FF6A00"/>
                </a:solidFill>
                <a:latin typeface="Calibri"/>
                <a:ea typeface="Calibri"/>
              </a:rPr>
              <a:t>PROBLEM</a:t>
            </a:r>
            <a:endParaRPr lang="en-US" sz="1300" noProof="1"/>
          </a:p>
        </p:txBody>
      </p:sp>
      <p:sp>
        <p:nvSpPr>
          <p:cNvPr id="3" name="Text 1"/>
          <p:cNvSpPr txBox="1"/>
          <p:nvPr/>
        </p:nvSpPr>
        <p:spPr>
          <a:xfrm>
            <a:off x="740410" y="859790"/>
            <a:ext cx="8686800" cy="55753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 marL="0">
              <a:lnSpc>
                <a:spcPct val="120000"/>
              </a:lnSpc>
            </a:pPr>
            <a:r>
              <a:rPr lang="en-US" sz="3400" noProof="1" b="1">
                <a:solidFill>
                  <a:srgbClr val="241610"/>
                </a:solidFill>
                <a:latin typeface="Bookman Old Style"/>
                <a:ea typeface="Bookman Old Style"/>
              </a:rPr>
              <a:t>What Happens If We Don't Fix This</a:t>
            </a:r>
            <a:endParaRPr lang="en-US" sz="3400" noProof="1"/>
          </a:p>
        </p:txBody>
      </p:sp>
      <p:sp>
        <p:nvSpPr>
          <p:cNvPr id="4" name="Text 2"/>
          <p:cNvSpPr txBox="1"/>
          <p:nvPr/>
        </p:nvSpPr>
        <p:spPr>
          <a:xfrm>
            <a:off x="759460" y="1499870"/>
            <a:ext cx="9601200" cy="2565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 marL="0">
              <a:lnSpc>
                <a:spcPct val="120000"/>
              </a:lnSpc>
            </a:pPr>
            <a:r>
              <a:rPr lang="en-US" sz="1400" noProof="1" i="1">
                <a:solidFill>
                  <a:srgbClr val="55637A"/>
                </a:solidFill>
                <a:latin typeface="Bookman Old Style"/>
                <a:ea typeface="Bookman Old Style"/>
              </a:rPr>
              <a:t>Comet is still growing and competing against much bigger rivals. Here's what could go wrong.</a:t>
            </a:r>
            <a:endParaRPr lang="en-US" sz="1400" noProof="1"/>
          </a:p>
        </p:txBody>
      </p:sp>
      <p:sp>
        <p:nvSpPr>
          <p:cNvPr id="5" name="Shape 3"/>
          <p:cNvSpPr/>
          <p:nvPr/>
        </p:nvSpPr>
        <p:spPr>
          <a:xfrm>
            <a:off x="759460" y="2057400"/>
            <a:ext cx="2477770" cy="3045460"/>
          </a:xfrm>
          <a:prstGeom prst="roundRect">
            <a:avLst>
              <a:gd name="adj" fmla="val 2214"/>
            </a:avLst>
          </a:prstGeom>
          <a:solidFill>
            <a:srgbClr val="FFF6EE"/>
          </a:solidFill>
          <a:ln w="12700">
            <a:solidFill>
              <a:srgbClr val="F8D3B4"/>
            </a:solidFill>
          </a:ln>
        </p:spPr>
      </p:sp>
      <p:sp>
        <p:nvSpPr>
          <p:cNvPr id="6" name="Shape 4"/>
          <p:cNvSpPr/>
          <p:nvPr/>
        </p:nvSpPr>
        <p:spPr>
          <a:xfrm>
            <a:off x="1663700" y="2386330"/>
            <a:ext cx="685800" cy="685800"/>
          </a:xfrm>
          <a:prstGeom prst="ellipse">
            <a:avLst/>
          </a:prstGeom>
          <a:solidFill>
            <a:srgbClr val="FF6A00"/>
          </a:solidFill>
          <a:ln>
            <a:noFill/>
          </a:ln>
        </p:spPr>
      </p:sp>
      <p:sp>
        <p:nvSpPr>
          <p:cNvPr id="7" name="Text 5"/>
          <p:cNvSpPr txBox="1"/>
          <p:nvPr/>
        </p:nvSpPr>
        <p:spPr>
          <a:xfrm>
            <a:off x="1663700" y="2386330"/>
            <a:ext cx="685800" cy="685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 marL="0">
              <a:lnSpc>
                <a:spcPct val="120000"/>
              </a:lnSpc>
            </a:pPr>
            <a:r>
              <a:rPr lang="en-US" sz="2200" noProof="1" b="1">
                <a:solidFill>
                  <a:srgbClr val="F3F6FB"/>
                </a:solidFill>
                <a:latin typeface="Calibri"/>
                <a:ea typeface="Calibri"/>
              </a:rPr>
              <a:t>1</a:t>
            </a:r>
            <a:endParaRPr lang="en-US" sz="2200" noProof="1"/>
          </a:p>
        </p:txBody>
      </p:sp>
      <p:sp>
        <p:nvSpPr>
          <p:cNvPr id="8" name="Text 6"/>
          <p:cNvSpPr txBox="1"/>
          <p:nvPr/>
        </p:nvSpPr>
        <p:spPr>
          <a:xfrm>
            <a:off x="914400" y="3274060"/>
            <a:ext cx="2176780" cy="41148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 marL="0">
              <a:lnSpc>
                <a:spcPct val="120000"/>
              </a:lnSpc>
            </a:pPr>
            <a:r>
              <a:rPr lang="en-US" sz="1650" noProof="1" b="1">
                <a:solidFill>
                  <a:srgbClr val="0B1E3D"/>
                </a:solidFill>
                <a:latin typeface="Bookman Old Style"/>
                <a:ea typeface="Bookman Old Style"/>
              </a:rPr>
              <a:t>Guessing Blind</a:t>
            </a:r>
            <a:endParaRPr lang="en-US" sz="1650" noProof="1"/>
          </a:p>
        </p:txBody>
      </p:sp>
      <p:sp>
        <p:nvSpPr>
          <p:cNvPr id="9" name="Text 7"/>
          <p:cNvSpPr txBox="1"/>
          <p:nvPr/>
        </p:nvSpPr>
        <p:spPr>
          <a:xfrm>
            <a:off x="942340" y="3685540"/>
            <a:ext cx="2112010" cy="1280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 marL="0">
              <a:lnSpc>
                <a:spcPct val="120000"/>
              </a:lnSpc>
            </a:pPr>
            <a:r>
              <a:rPr lang="en-US" sz="1250" noProof="1">
                <a:solidFill>
                  <a:srgbClr val="55637A"/>
                </a:solidFill>
                <a:latin typeface="Calibri"/>
                <a:ea typeface="Calibri"/>
              </a:rPr>
              <a:t>Discounts or selling too widely can hurt the exclusive feel that supports Comet's price.</a:t>
            </a:r>
            <a:endParaRPr lang="en-US" sz="1250" noProof="1"/>
          </a:p>
        </p:txBody>
      </p:sp>
      <p:sp>
        <p:nvSpPr>
          <p:cNvPr id="10" name="Text 8"/>
          <p:cNvSpPr txBox="1"/>
          <p:nvPr/>
        </p:nvSpPr>
        <p:spPr>
          <a:xfrm>
            <a:off x="3246120" y="3401060"/>
            <a:ext cx="237490" cy="28321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 marL="0">
              <a:lnSpc>
                <a:spcPct val="120000"/>
              </a:lnSpc>
            </a:pPr>
            <a:r>
              <a:rPr lang="en-US" sz="1600" noProof="1" b="1">
                <a:solidFill>
                  <a:srgbClr val="FF6A00"/>
                </a:solidFill>
                <a:latin typeface="Calibri"/>
                <a:ea typeface="Calibri"/>
              </a:rPr>
              <a:t>→</a:t>
            </a:r>
            <a:endParaRPr lang="en-US" sz="1600" noProof="1"/>
          </a:p>
        </p:txBody>
      </p:sp>
      <p:sp>
        <p:nvSpPr>
          <p:cNvPr id="11" name="Shape 9"/>
          <p:cNvSpPr/>
          <p:nvPr/>
        </p:nvSpPr>
        <p:spPr>
          <a:xfrm>
            <a:off x="3492500" y="2057400"/>
            <a:ext cx="2477770" cy="3045460"/>
          </a:xfrm>
          <a:prstGeom prst="roundRect">
            <a:avLst>
              <a:gd name="adj" fmla="val 2214"/>
            </a:avLst>
          </a:prstGeom>
          <a:solidFill>
            <a:srgbClr val="FFF6EE"/>
          </a:solidFill>
          <a:ln w="12700">
            <a:solidFill>
              <a:srgbClr val="F8D3B4"/>
            </a:solidFill>
          </a:ln>
        </p:spPr>
      </p:sp>
      <p:sp>
        <p:nvSpPr>
          <p:cNvPr id="12" name="Shape 10"/>
          <p:cNvSpPr/>
          <p:nvPr/>
        </p:nvSpPr>
        <p:spPr>
          <a:xfrm>
            <a:off x="4398010" y="2386330"/>
            <a:ext cx="685800" cy="685800"/>
          </a:xfrm>
          <a:prstGeom prst="ellipse">
            <a:avLst/>
          </a:prstGeom>
          <a:solidFill>
            <a:srgbClr val="FF6A00"/>
          </a:solidFill>
          <a:ln>
            <a:noFill/>
          </a:ln>
        </p:spPr>
      </p:sp>
      <p:sp>
        <p:nvSpPr>
          <p:cNvPr id="13" name="Text 11"/>
          <p:cNvSpPr txBox="1"/>
          <p:nvPr/>
        </p:nvSpPr>
        <p:spPr>
          <a:xfrm>
            <a:off x="4398010" y="2386330"/>
            <a:ext cx="685800" cy="685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 marL="0">
              <a:lnSpc>
                <a:spcPct val="120000"/>
              </a:lnSpc>
            </a:pPr>
            <a:r>
              <a:rPr lang="en-US" sz="2200" noProof="1" b="1">
                <a:solidFill>
                  <a:srgbClr val="F3F6FB"/>
                </a:solidFill>
                <a:latin typeface="Calibri"/>
                <a:ea typeface="Calibri"/>
              </a:rPr>
              <a:t>2</a:t>
            </a:r>
            <a:endParaRPr lang="en-US" sz="2200" noProof="1"/>
          </a:p>
        </p:txBody>
      </p:sp>
      <p:sp>
        <p:nvSpPr>
          <p:cNvPr id="14" name="Text 12"/>
          <p:cNvSpPr txBox="1"/>
          <p:nvPr/>
        </p:nvSpPr>
        <p:spPr>
          <a:xfrm>
            <a:off x="3648710" y="3274060"/>
            <a:ext cx="2176780" cy="41148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 marL="0">
              <a:lnSpc>
                <a:spcPct val="120000"/>
              </a:lnSpc>
            </a:pPr>
            <a:r>
              <a:rPr lang="en-US" sz="1650" noProof="1" b="1">
                <a:solidFill>
                  <a:srgbClr val="0B1E3D"/>
                </a:solidFill>
                <a:latin typeface="Bookman Old Style"/>
                <a:ea typeface="Bookman Old Style"/>
              </a:rPr>
              <a:t>Diluted Identity</a:t>
            </a:r>
            <a:endParaRPr lang="en-US" sz="1650" noProof="1"/>
          </a:p>
        </p:txBody>
      </p:sp>
      <p:sp>
        <p:nvSpPr>
          <p:cNvPr id="15" name="Text 13"/>
          <p:cNvSpPr txBox="1"/>
          <p:nvPr/>
        </p:nvSpPr>
        <p:spPr>
          <a:xfrm>
            <a:off x="3675380" y="3685540"/>
            <a:ext cx="2112010" cy="1280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 marL="0">
              <a:lnSpc>
                <a:spcPct val="120000"/>
              </a:lnSpc>
            </a:pPr>
            <a:r>
              <a:rPr lang="en-US" sz="1250" noProof="1">
                <a:solidFill>
                  <a:srgbClr val="55637A"/>
                </a:solidFill>
                <a:latin typeface="Calibri"/>
                <a:ea typeface="Calibri"/>
              </a:rPr>
              <a:t>Once a premium brand image is lost, it's hard to win back.</a:t>
            </a:r>
            <a:endParaRPr lang="en-US" sz="1250" noProof="1"/>
          </a:p>
        </p:txBody>
      </p:sp>
      <p:sp>
        <p:nvSpPr>
          <p:cNvPr id="16" name="Text 14"/>
          <p:cNvSpPr txBox="1"/>
          <p:nvPr/>
        </p:nvSpPr>
        <p:spPr>
          <a:xfrm>
            <a:off x="5980430" y="3401060"/>
            <a:ext cx="237490" cy="28321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 marL="0">
              <a:lnSpc>
                <a:spcPct val="120000"/>
              </a:lnSpc>
            </a:pPr>
            <a:r>
              <a:rPr lang="en-US" sz="1600" noProof="1" b="1">
                <a:solidFill>
                  <a:srgbClr val="FF6A00"/>
                </a:solidFill>
                <a:latin typeface="Calibri"/>
                <a:ea typeface="Calibri"/>
              </a:rPr>
              <a:t>→</a:t>
            </a:r>
            <a:endParaRPr lang="en-US" sz="1600" noProof="1"/>
          </a:p>
        </p:txBody>
      </p:sp>
      <p:sp>
        <p:nvSpPr>
          <p:cNvPr id="17" name="Shape 15"/>
          <p:cNvSpPr/>
          <p:nvPr/>
        </p:nvSpPr>
        <p:spPr>
          <a:xfrm>
            <a:off x="6226810" y="2057400"/>
            <a:ext cx="2477770" cy="3045460"/>
          </a:xfrm>
          <a:prstGeom prst="roundRect">
            <a:avLst>
              <a:gd name="adj" fmla="val 2214"/>
            </a:avLst>
          </a:prstGeom>
          <a:solidFill>
            <a:srgbClr val="FFF6EE"/>
          </a:solidFill>
          <a:ln w="12700">
            <a:solidFill>
              <a:srgbClr val="F8D3B4"/>
            </a:solidFill>
          </a:ln>
        </p:spPr>
      </p:sp>
      <p:sp>
        <p:nvSpPr>
          <p:cNvPr id="18" name="Shape 16"/>
          <p:cNvSpPr/>
          <p:nvPr/>
        </p:nvSpPr>
        <p:spPr>
          <a:xfrm>
            <a:off x="7132320" y="2386330"/>
            <a:ext cx="685800" cy="685800"/>
          </a:xfrm>
          <a:prstGeom prst="ellipse">
            <a:avLst/>
          </a:prstGeom>
          <a:solidFill>
            <a:srgbClr val="FF6A00"/>
          </a:solidFill>
          <a:ln>
            <a:noFill/>
          </a:ln>
        </p:spPr>
      </p:sp>
      <p:sp>
        <p:nvSpPr>
          <p:cNvPr id="19" name="Text 17"/>
          <p:cNvSpPr txBox="1"/>
          <p:nvPr/>
        </p:nvSpPr>
        <p:spPr>
          <a:xfrm>
            <a:off x="7132320" y="2386330"/>
            <a:ext cx="685800" cy="685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 marL="0">
              <a:lnSpc>
                <a:spcPct val="120000"/>
              </a:lnSpc>
            </a:pPr>
            <a:r>
              <a:rPr lang="en-US" sz="2200" noProof="1" b="1">
                <a:solidFill>
                  <a:srgbClr val="F3F6FB"/>
                </a:solidFill>
                <a:latin typeface="Calibri"/>
                <a:ea typeface="Calibri"/>
              </a:rPr>
              <a:t>3</a:t>
            </a:r>
            <a:endParaRPr lang="en-US" sz="2200" noProof="1"/>
          </a:p>
        </p:txBody>
      </p:sp>
      <p:sp>
        <p:nvSpPr>
          <p:cNvPr id="20" name="Text 18"/>
          <p:cNvSpPr txBox="1"/>
          <p:nvPr/>
        </p:nvSpPr>
        <p:spPr>
          <a:xfrm>
            <a:off x="6383020" y="3274060"/>
            <a:ext cx="2176780" cy="41148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 marL="0">
              <a:lnSpc>
                <a:spcPct val="120000"/>
              </a:lnSpc>
            </a:pPr>
            <a:r>
              <a:rPr lang="en-US" sz="1650" noProof="1" b="1">
                <a:solidFill>
                  <a:srgbClr val="0B1E3D"/>
                </a:solidFill>
                <a:latin typeface="Bookman Old Style"/>
                <a:ea typeface="Bookman Old Style"/>
              </a:rPr>
              <a:t>Wasted Spend</a:t>
            </a:r>
            <a:endParaRPr lang="en-US" sz="1650" noProof="1"/>
          </a:p>
        </p:txBody>
      </p:sp>
      <p:sp>
        <p:nvSpPr>
          <p:cNvPr id="21" name="Text 19"/>
          <p:cNvSpPr txBox="1"/>
          <p:nvPr/>
        </p:nvSpPr>
        <p:spPr>
          <a:xfrm>
            <a:off x="6409690" y="3685540"/>
            <a:ext cx="2112010" cy="1280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 marL="0">
              <a:lnSpc>
                <a:spcPct val="120000"/>
              </a:lnSpc>
            </a:pPr>
            <a:r>
              <a:rPr lang="en-US" sz="1250" noProof="1">
                <a:solidFill>
                  <a:srgbClr val="55637A"/>
                </a:solidFill>
                <a:latin typeface="Calibri"/>
                <a:ea typeface="Calibri"/>
              </a:rPr>
              <a:t>Choosing the wrong strategy wastes money Comet — only 3 years old — can't afford to lose.</a:t>
            </a:r>
            <a:endParaRPr lang="en-US" sz="1250" noProof="1"/>
          </a:p>
        </p:txBody>
      </p:sp>
      <p:sp>
        <p:nvSpPr>
          <p:cNvPr id="22" name="Text 20"/>
          <p:cNvSpPr txBox="1"/>
          <p:nvPr/>
        </p:nvSpPr>
        <p:spPr>
          <a:xfrm>
            <a:off x="8714740" y="3401060"/>
            <a:ext cx="237490" cy="28321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 marL="0">
              <a:lnSpc>
                <a:spcPct val="120000"/>
              </a:lnSpc>
            </a:pPr>
            <a:r>
              <a:rPr lang="en-US" sz="1600" noProof="1" b="1">
                <a:solidFill>
                  <a:srgbClr val="FF6A00"/>
                </a:solidFill>
                <a:latin typeface="Calibri"/>
                <a:ea typeface="Calibri"/>
              </a:rPr>
              <a:t>→</a:t>
            </a:r>
            <a:endParaRPr lang="en-US" sz="1600" noProof="1"/>
          </a:p>
        </p:txBody>
      </p:sp>
      <p:sp>
        <p:nvSpPr>
          <p:cNvPr id="23" name="Shape 21"/>
          <p:cNvSpPr/>
          <p:nvPr/>
        </p:nvSpPr>
        <p:spPr>
          <a:xfrm>
            <a:off x="8961120" y="2057400"/>
            <a:ext cx="2477770" cy="3045460"/>
          </a:xfrm>
          <a:prstGeom prst="roundRect">
            <a:avLst>
              <a:gd name="adj" fmla="val 2214"/>
            </a:avLst>
          </a:prstGeom>
          <a:solidFill>
            <a:srgbClr val="FFF6EE"/>
          </a:solidFill>
          <a:ln w="12700">
            <a:solidFill>
              <a:srgbClr val="F8D3B4"/>
            </a:solidFill>
          </a:ln>
        </p:spPr>
      </p:sp>
      <p:sp>
        <p:nvSpPr>
          <p:cNvPr id="24" name="Shape 22"/>
          <p:cNvSpPr/>
          <p:nvPr/>
        </p:nvSpPr>
        <p:spPr>
          <a:xfrm>
            <a:off x="9866630" y="2386330"/>
            <a:ext cx="685800" cy="685800"/>
          </a:xfrm>
          <a:prstGeom prst="ellipse">
            <a:avLst/>
          </a:prstGeom>
          <a:solidFill>
            <a:srgbClr val="FF6A00"/>
          </a:solidFill>
          <a:ln>
            <a:noFill/>
          </a:ln>
        </p:spPr>
      </p:sp>
      <p:sp>
        <p:nvSpPr>
          <p:cNvPr id="25" name="Text 23"/>
          <p:cNvSpPr txBox="1"/>
          <p:nvPr/>
        </p:nvSpPr>
        <p:spPr>
          <a:xfrm>
            <a:off x="9866630" y="2386330"/>
            <a:ext cx="685800" cy="685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 marL="0">
              <a:lnSpc>
                <a:spcPct val="120000"/>
              </a:lnSpc>
            </a:pPr>
            <a:r>
              <a:rPr lang="en-US" sz="2200" noProof="1" b="1">
                <a:solidFill>
                  <a:srgbClr val="F3F6FB"/>
                </a:solidFill>
                <a:latin typeface="Calibri"/>
                <a:ea typeface="Calibri"/>
              </a:rPr>
              <a:t>4</a:t>
            </a:r>
            <a:endParaRPr lang="en-US" sz="2200" noProof="1"/>
          </a:p>
        </p:txBody>
      </p:sp>
      <p:sp>
        <p:nvSpPr>
          <p:cNvPr id="26" name="Text 24"/>
          <p:cNvSpPr txBox="1"/>
          <p:nvPr/>
        </p:nvSpPr>
        <p:spPr>
          <a:xfrm>
            <a:off x="9116060" y="3274060"/>
            <a:ext cx="2176780" cy="41148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 marL="0">
              <a:lnSpc>
                <a:spcPct val="120000"/>
              </a:lnSpc>
            </a:pPr>
            <a:r>
              <a:rPr lang="en-US" sz="1650" noProof="1" b="1">
                <a:solidFill>
                  <a:srgbClr val="0B1E3D"/>
                </a:solidFill>
                <a:latin typeface="Bookman Old Style"/>
                <a:ea typeface="Bookman Old Style"/>
              </a:rPr>
              <a:t>Falling Behind</a:t>
            </a:r>
            <a:endParaRPr lang="en-US" sz="1650" noProof="1"/>
          </a:p>
        </p:txBody>
      </p:sp>
      <p:sp>
        <p:nvSpPr>
          <p:cNvPr id="27" name="Text 25"/>
          <p:cNvSpPr txBox="1"/>
          <p:nvPr/>
        </p:nvSpPr>
        <p:spPr>
          <a:xfrm>
            <a:off x="9144000" y="3685540"/>
            <a:ext cx="2112010" cy="1280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 marL="0">
              <a:lnSpc>
                <a:spcPct val="120000"/>
              </a:lnSpc>
            </a:pPr>
            <a:r>
              <a:rPr lang="en-US" sz="1250" noProof="1">
                <a:solidFill>
                  <a:srgbClr val="55637A"/>
                </a:solidFill>
                <a:latin typeface="Calibri"/>
                <a:ea typeface="Calibri"/>
              </a:rPr>
              <a:t>The market will grow to $4.7B, but Nike, Adidas and Puma could take most of it while Comet stays small.</a:t>
            </a:r>
            <a:endParaRPr lang="en-US" sz="1250" noProof="1"/>
          </a:p>
        </p:txBody>
      </p:sp>
      <p:sp>
        <p:nvSpPr>
          <p:cNvPr id="28" name="Shape 26"/>
          <p:cNvSpPr/>
          <p:nvPr/>
        </p:nvSpPr>
        <p:spPr>
          <a:xfrm>
            <a:off x="759460" y="5386070"/>
            <a:ext cx="10670540" cy="713740"/>
          </a:xfrm>
          <a:prstGeom prst="roundRect">
            <a:avLst>
              <a:gd name="adj" fmla="val 7692"/>
            </a:avLst>
          </a:prstGeom>
          <a:solidFill>
            <a:srgbClr val="2E1A10"/>
          </a:solidFill>
          <a:ln>
            <a:noFill/>
          </a:ln>
        </p:spPr>
      </p:sp>
      <p:sp>
        <p:nvSpPr>
          <p:cNvPr id="29" name="Text 27"/>
          <p:cNvSpPr txBox="1"/>
          <p:nvPr/>
        </p:nvSpPr>
        <p:spPr>
          <a:xfrm>
            <a:off x="1115060" y="5386070"/>
            <a:ext cx="10030460" cy="7137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 marL="0">
              <a:lnSpc>
                <a:spcPct val="120000"/>
              </a:lnSpc>
            </a:pPr>
            <a:r>
              <a:rPr lang="en-US" sz="1550" noProof="1" b="1" i="1">
                <a:solidFill>
                  <a:srgbClr val="FFE8D6"/>
                </a:solidFill>
                <a:latin typeface="Bookman Old Style"/>
                <a:ea typeface="Bookman Old Style"/>
              </a:rPr>
              <a:t>If we don't act, Comet could lose its edge — even as the market keeps growing.</a:t>
            </a:r>
            <a:endParaRPr lang="en-US" sz="1550" noProof="1"/>
          </a:p>
        </p:txBody>
      </p:sp>
      <p:sp>
        <p:nvSpPr>
          <p:cNvPr id="30" name="Text 28"/>
          <p:cNvSpPr txBox="1"/>
          <p:nvPr/>
        </p:nvSpPr>
        <p:spPr>
          <a:xfrm>
            <a:off x="759460" y="6501130"/>
            <a:ext cx="5486400" cy="17399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 marL="0">
              <a:lnSpc>
                <a:spcPct val="120000"/>
              </a:lnSpc>
            </a:pPr>
            <a:r>
              <a:rPr lang="en-US" sz="950" noProof="1">
                <a:solidFill>
                  <a:srgbClr val="55637A"/>
                </a:solidFill>
                <a:latin typeface="Calibri"/>
                <a:ea typeface="Calibri"/>
              </a:rPr>
              <a:t>Capstone WIP  ·  Foundations of AI in Business  ·  Learning Team 04</a:t>
            </a:r>
            <a:endParaRPr lang="en-US" sz="950" noProof="1"/>
          </a:p>
        </p:txBody>
      </p:sp>
      <p:sp>
        <p:nvSpPr>
          <p:cNvPr id="31" name="Text 29"/>
          <p:cNvSpPr txBox="1"/>
          <p:nvPr/>
        </p:nvSpPr>
        <p:spPr>
          <a:xfrm>
            <a:off x="11046460" y="6501130"/>
            <a:ext cx="383540" cy="17399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r" marL="0">
              <a:lnSpc>
                <a:spcPct val="120000"/>
              </a:lnSpc>
            </a:pPr>
            <a:r>
              <a:rPr lang="en-US" sz="950" noProof="1">
                <a:solidFill>
                  <a:srgbClr val="55637A"/>
                </a:solidFill>
                <a:latin typeface="Calibri"/>
                <a:ea typeface="Calibri"/>
              </a:rPr>
              <a:t>4</a:t>
            </a:r>
            <a:endParaRPr lang="en-US" sz="950" noProof="1"/>
          </a:p>
        </p:txBody>
      </p:sp>
      <p:pic>
        <p:nvPicPr>
          <p:cNvPr id="32" name="CometOrangePhoto"/>
          <p:cNvPicPr/>
          <p:nvPr/>
        </p:nvPicPr>
        <p:blipFill>
          <a:blip r:embed="rId2"/>
          <a:srcRect t="1023" b="1023"/>
          <a:stretch>
            <a:fillRect/>
          </a:stretch>
        </p:blipFill>
        <p:spPr>
          <a:xfrm>
            <a:off x="9779000" y="279400"/>
            <a:ext cx="1651000" cy="1041400"/>
          </a:xfrm>
          <a:prstGeom prst="roundRect">
            <a:avLst>
              <a:gd name="adj" fmla="val 8000"/>
            </a:avLst>
          </a:prstGeom>
          <a:ln>
            <a:noFill/>
          </a:ln>
          <a:effectLst>
            <a:outerShdw blurRad="101600" dist="38100" dir="5400000" sx="100000" sy="100000" kx="0" ky="0" algn="bl" rotWithShape="0">
              <a:srgbClr val="000000">
                <a:alpha val="14902"/>
              </a:srgbClr>
            </a:outerShdw>
          </a:effectLst>
        </p:spPr>
      </p:pic>
      <p:sp>
        <p:nvSpPr>
          <p:cNvPr id="33" name="CometOrangeLabelBg"/>
          <p:cNvSpPr/>
          <p:nvPr/>
        </p:nvSpPr>
        <p:spPr>
          <a:xfrm>
            <a:off x="9779000" y="1155700"/>
            <a:ext cx="1651000" cy="177800"/>
          </a:xfrm>
          <a:prstGeom prst="roundRect">
            <a:avLst>
              <a:gd name="adj" fmla="val 30000"/>
            </a:avLst>
          </a:prstGeom>
          <a:solidFill>
            <a:srgbClr val="FF6A00">
              <a:alpha val="90196"/>
            </a:srgbClr>
          </a:solidFill>
          <a:ln>
            <a:noFill/>
          </a:ln>
        </p:spPr>
      </p:sp>
      <p:sp>
        <p:nvSpPr>
          <p:cNvPr id="34" name="CometOrangeLabel"/>
          <p:cNvSpPr txBox="1"/>
          <p:nvPr/>
        </p:nvSpPr>
        <p:spPr>
          <a:xfrm>
            <a:off x="9779000" y="1155700"/>
            <a:ext cx="1651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750" noProof="1" b="1" spc="100" kern="0">
                <a:solidFill>
                  <a:srgbClr val="FFFFFF"/>
                </a:solidFill>
                <a:latin typeface="MiSans"/>
                <a:ea typeface="MiSans"/>
              </a:rPr>
              <a:t>COMET ORANGE</a:t>
            </a:r>
            <a:endParaRPr lang="en-US" sz="750" noProof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1F5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59460" y="51181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 marL="0">
              <a:lnSpc>
                <a:spcPct val="120000"/>
              </a:lnSpc>
            </a:pPr>
            <a:r>
              <a:rPr lang="en-US" sz="1300" noProof="1" b="1" spc="200" kern="0">
                <a:solidFill>
                  <a:srgbClr val="7A9E12"/>
                </a:solidFill>
                <a:latin typeface="Calibri"/>
                <a:ea typeface="Calibri"/>
              </a:rPr>
              <a:t>EVIDENCE</a:t>
            </a:r>
            <a:endParaRPr lang="en-US" sz="1300" noProof="1"/>
          </a:p>
        </p:txBody>
      </p:sp>
      <p:sp>
        <p:nvSpPr>
          <p:cNvPr id="3" name="Text 1"/>
          <p:cNvSpPr txBox="1"/>
          <p:nvPr/>
        </p:nvSpPr>
        <p:spPr>
          <a:xfrm>
            <a:off x="740410" y="786130"/>
            <a:ext cx="8686800" cy="51181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 marL="0">
              <a:lnSpc>
                <a:spcPct val="120000"/>
              </a:lnSpc>
            </a:pPr>
            <a:r>
              <a:rPr lang="en-US" sz="3200" noProof="1" b="1">
                <a:solidFill>
                  <a:srgbClr val="0B1E3D"/>
                </a:solidFill>
                <a:latin typeface="Bookman Old Style"/>
                <a:ea typeface="Bookman Old Style"/>
              </a:rPr>
              <a:t>Facts We Found — Free &amp; Public</a:t>
            </a:r>
            <a:endParaRPr lang="en-US" sz="3200" noProof="1"/>
          </a:p>
        </p:txBody>
      </p:sp>
      <p:sp>
        <p:nvSpPr>
          <p:cNvPr id="4" name="Text 2"/>
          <p:cNvSpPr txBox="1"/>
          <p:nvPr/>
        </p:nvSpPr>
        <p:spPr>
          <a:xfrm>
            <a:off x="759460" y="1343660"/>
            <a:ext cx="9601200" cy="2565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 marL="0">
              <a:lnSpc>
                <a:spcPct val="120000"/>
              </a:lnSpc>
            </a:pPr>
            <a:r>
              <a:rPr lang="en-US" sz="1350" noProof="1" i="1">
                <a:solidFill>
                  <a:srgbClr val="55637A"/>
                </a:solidFill>
                <a:latin typeface="Bookman Old Style"/>
                <a:ea typeface="Bookman Old Style"/>
              </a:rPr>
              <a:t>Every fact below comes from a free, public source, tagged with its Evidence ID from our register.</a:t>
            </a:r>
            <a:endParaRPr lang="en-US" sz="1350" noProof="1"/>
          </a:p>
        </p:txBody>
      </p:sp>
      <p:sp>
        <p:nvSpPr>
          <p:cNvPr id="5" name="Shape 3"/>
          <p:cNvSpPr/>
          <p:nvPr/>
        </p:nvSpPr>
        <p:spPr>
          <a:xfrm>
            <a:off x="759460" y="1774190"/>
            <a:ext cx="3456940" cy="2002790"/>
          </a:xfrm>
          <a:prstGeom prst="roundRect">
            <a:avLst>
              <a:gd name="adj" fmla="val 2283"/>
            </a:avLst>
          </a:prstGeom>
          <a:solidFill>
            <a:srgbClr val="F8FAEF"/>
          </a:solidFill>
          <a:ln w="12700">
            <a:solidFill>
              <a:srgbClr val="DDE6B8"/>
            </a:solidFill>
          </a:ln>
        </p:spPr>
      </p:sp>
      <p:sp>
        <p:nvSpPr>
          <p:cNvPr id="6" name="Shape 4"/>
          <p:cNvSpPr/>
          <p:nvPr/>
        </p:nvSpPr>
        <p:spPr>
          <a:xfrm>
            <a:off x="969010" y="1957070"/>
            <a:ext cx="502920" cy="283210"/>
          </a:xfrm>
          <a:prstGeom prst="roundRect">
            <a:avLst>
              <a:gd name="adj" fmla="val 48387"/>
            </a:avLst>
          </a:prstGeom>
          <a:solidFill>
            <a:srgbClr val="88AB1A"/>
          </a:solidFill>
          <a:ln>
            <a:noFill/>
          </a:ln>
        </p:spPr>
      </p:sp>
      <p:sp>
        <p:nvSpPr>
          <p:cNvPr id="7" name="Text 5"/>
          <p:cNvSpPr txBox="1"/>
          <p:nvPr/>
        </p:nvSpPr>
        <p:spPr>
          <a:xfrm>
            <a:off x="969010" y="1957070"/>
            <a:ext cx="502920" cy="28321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 marL="0">
              <a:lnSpc>
                <a:spcPct val="120000"/>
              </a:lnSpc>
            </a:pPr>
            <a:r>
              <a:rPr lang="en-US" sz="1050" noProof="1" b="1">
                <a:solidFill>
                  <a:srgbClr val="F3F6FB"/>
                </a:solidFill>
                <a:latin typeface="Calibri"/>
                <a:ea typeface="Calibri"/>
              </a:rPr>
              <a:t>E01</a:t>
            </a:r>
            <a:endParaRPr lang="en-US" sz="1050" noProof="1"/>
          </a:p>
        </p:txBody>
      </p:sp>
      <p:sp>
        <p:nvSpPr>
          <p:cNvPr id="8" name="Text 6"/>
          <p:cNvSpPr txBox="1"/>
          <p:nvPr/>
        </p:nvSpPr>
        <p:spPr>
          <a:xfrm>
            <a:off x="969010" y="2322830"/>
            <a:ext cx="3035300" cy="7772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 marL="0">
              <a:lnSpc>
                <a:spcPct val="120000"/>
              </a:lnSpc>
            </a:pPr>
            <a:r>
              <a:rPr lang="en-US" sz="1150" noProof="1" b="1">
                <a:solidFill>
                  <a:srgbClr val="0B1E3D"/>
                </a:solidFill>
                <a:latin typeface="Bookman Old Style"/>
                <a:ea typeface="Bookman Old Style"/>
              </a:rPr>
              <a:t>Comet's awareness isn't directly measured. We only have estimates: ~345K Instagram followers and a fan community of 1.6 lakh+.</a:t>
            </a:r>
            <a:endParaRPr lang="en-US" sz="1150" noProof="1"/>
          </a:p>
        </p:txBody>
      </p:sp>
      <p:sp>
        <p:nvSpPr>
          <p:cNvPr id="9" name="Text 7"/>
          <p:cNvSpPr txBox="1"/>
          <p:nvPr/>
        </p:nvSpPr>
        <p:spPr>
          <a:xfrm>
            <a:off x="969010" y="3117850"/>
            <a:ext cx="30353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 marL="0">
              <a:lnSpc>
                <a:spcPct val="105000"/>
              </a:lnSpc>
            </a:pPr>
            <a:r>
              <a:rPr lang="en-US" sz="620" noProof="1" i="1">
                <a:solidFill>
                  <a:srgbClr val="55637A"/>
                </a:solidFill>
                <a:latin typeface="Calibri"/>
                <a:ea typeface="Calibri"/>
              </a:rPr>
              <a:t>Comet [@thecometuniverse]. (n.d.). </a:t>
            </a:r>
            <a:r>
              <a:rPr lang="en-US" sz="620" noProof="1" i="1">
                <a:solidFill>
                  <a:srgbClr val="55637A"/>
                </a:solidFill>
                <a:latin typeface="Calibri"/>
                <a:ea typeface="Calibri"/>
              </a:rPr>
              <a:t>Instagram</a:t>
            </a:r>
            <a:r>
              <a:rPr lang="en-US" sz="620" noProof="1" i="1">
                <a:solidFill>
                  <a:srgbClr val="55637A"/>
                </a:solidFill>
                <a:latin typeface="Calibri"/>
                <a:ea typeface="Calibri"/>
              </a:rPr>
              <a:t>. Retrieved August 18, 2026, from </a:t>
            </a:r>
            <a:r>
              <a:rPr lang="en-US" sz="620" noProof="1" i="1" u="sng">
                <a:solidFill>
                  <a:srgbClr val="0563C1"/>
                </a:solidFill>
                <a:latin typeface="Calibri"/>
                <a:ea typeface="Calibri"/>
                <a:hlinkClick r:id="rId4"/>
              </a:rPr>
              <a:t>instagram.com/thecometuniverse</a:t>
            </a:r>
            <a:endParaRPr lang="en-US" sz="620" noProof="1"/>
          </a:p>
          <a:p>
            <a:pPr algn="l" marL="0">
              <a:lnSpc>
                <a:spcPct val="105000"/>
              </a:lnSpc>
            </a:pPr>
            <a:r>
              <a:rPr lang="en-US" sz="620" noProof="1" i="1">
                <a:solidFill>
                  <a:srgbClr val="55637A"/>
                </a:solidFill>
                <a:latin typeface="Calibri"/>
                <a:ea typeface="Calibri"/>
              </a:rPr>
              <a:t>Inc42. (2025, January 31). </a:t>
            </a:r>
            <a:r>
              <a:rPr lang="en-US" sz="620" noProof="1" i="1">
                <a:solidFill>
                  <a:srgbClr val="55637A"/>
                </a:solidFill>
                <a:latin typeface="Calibri"/>
                <a:ea typeface="Calibri"/>
              </a:rPr>
              <a:t>Can Comet stir up a sneaker revolution with its storytelling playbook?</a:t>
            </a:r>
            <a:r>
              <a:rPr lang="en-US" sz="620" noProof="1" i="1">
                <a:solidFill>
                  <a:srgbClr val="55637A"/>
                </a:solidFill>
                <a:latin typeface="Calibri"/>
                <a:ea typeface="Calibri"/>
              </a:rPr>
              <a:t> </a:t>
            </a:r>
            <a:r>
              <a:rPr lang="en-US" sz="620" noProof="1" i="1" u="sng">
                <a:solidFill>
                  <a:srgbClr val="0563C1"/>
                </a:solidFill>
                <a:latin typeface="Calibri"/>
                <a:ea typeface="Calibri"/>
                <a:hlinkClick r:id="rId5"/>
              </a:rPr>
              <a:t>inc42.com</a:t>
            </a:r>
            <a:endParaRPr lang="en-US" sz="620" noProof="1"/>
          </a:p>
        </p:txBody>
      </p:sp>
      <p:sp>
        <p:nvSpPr>
          <p:cNvPr id="10" name="Shape 8"/>
          <p:cNvSpPr/>
          <p:nvPr/>
        </p:nvSpPr>
        <p:spPr>
          <a:xfrm>
            <a:off x="4371340" y="1774190"/>
            <a:ext cx="3456940" cy="2002790"/>
          </a:xfrm>
          <a:prstGeom prst="roundRect">
            <a:avLst>
              <a:gd name="adj" fmla="val 2283"/>
            </a:avLst>
          </a:prstGeom>
          <a:solidFill>
            <a:srgbClr val="F8FAEF"/>
          </a:solidFill>
          <a:ln w="12700">
            <a:solidFill>
              <a:srgbClr val="DDE6B8"/>
            </a:solidFill>
          </a:ln>
        </p:spPr>
      </p:sp>
      <p:sp>
        <p:nvSpPr>
          <p:cNvPr id="11" name="Shape 9"/>
          <p:cNvSpPr/>
          <p:nvPr/>
        </p:nvSpPr>
        <p:spPr>
          <a:xfrm>
            <a:off x="4580890" y="1957070"/>
            <a:ext cx="502920" cy="283210"/>
          </a:xfrm>
          <a:prstGeom prst="roundRect">
            <a:avLst>
              <a:gd name="adj" fmla="val 48387"/>
            </a:avLst>
          </a:prstGeom>
          <a:solidFill>
            <a:srgbClr val="88AB1A"/>
          </a:solidFill>
          <a:ln>
            <a:noFill/>
          </a:ln>
        </p:spPr>
      </p:sp>
      <p:sp>
        <p:nvSpPr>
          <p:cNvPr id="12" name="Text 10"/>
          <p:cNvSpPr txBox="1"/>
          <p:nvPr/>
        </p:nvSpPr>
        <p:spPr>
          <a:xfrm>
            <a:off x="4580890" y="1957070"/>
            <a:ext cx="502920" cy="28321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 marL="0">
              <a:lnSpc>
                <a:spcPct val="120000"/>
              </a:lnSpc>
            </a:pPr>
            <a:r>
              <a:rPr lang="en-US" sz="1050" noProof="1" b="1">
                <a:solidFill>
                  <a:srgbClr val="F3F6FB"/>
                </a:solidFill>
                <a:latin typeface="Calibri"/>
                <a:ea typeface="Calibri"/>
              </a:rPr>
              <a:t>E03</a:t>
            </a:r>
            <a:endParaRPr lang="en-US" sz="1050" noProof="1"/>
          </a:p>
        </p:txBody>
      </p:sp>
      <p:sp>
        <p:nvSpPr>
          <p:cNvPr id="13" name="Text 11"/>
          <p:cNvSpPr txBox="1"/>
          <p:nvPr/>
        </p:nvSpPr>
        <p:spPr>
          <a:xfrm>
            <a:off x="4580890" y="2322830"/>
            <a:ext cx="3035300" cy="7772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 marL="0">
              <a:lnSpc>
                <a:spcPct val="120000"/>
              </a:lnSpc>
            </a:pPr>
            <a:r>
              <a:rPr lang="en-US" sz="1150" noProof="1" b="1">
                <a:solidFill>
                  <a:srgbClr val="0B1E3D"/>
                </a:solidFill>
                <a:latin typeface="Bookman Old Style"/>
                <a:ea typeface="Bookman Old Style"/>
              </a:rPr>
              <a:t>An investor blog says Comet customers rate it highly (NPS above 75). This shows satisfaction, not repeat purchases.</a:t>
            </a:r>
            <a:endParaRPr lang="en-US" sz="1150" noProof="1"/>
          </a:p>
        </p:txBody>
      </p:sp>
      <p:sp>
        <p:nvSpPr>
          <p:cNvPr id="14" name="Text 12"/>
          <p:cNvSpPr txBox="1"/>
          <p:nvPr/>
        </p:nvSpPr>
        <p:spPr>
          <a:xfrm>
            <a:off x="4580890" y="3117850"/>
            <a:ext cx="30353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 marL="0">
              <a:lnSpc>
                <a:spcPct val="105000"/>
              </a:lnSpc>
            </a:pPr>
            <a:r>
              <a:rPr lang="en-US" sz="640" noProof="1" i="1">
                <a:solidFill>
                  <a:srgbClr val="55637A"/>
                </a:solidFill>
                <a:latin typeface="Calibri"/>
                <a:ea typeface="Calibri"/>
              </a:rPr>
              <a:t>Elevation Capital. (2024, May 20). </a:t>
            </a:r>
            <a:r>
              <a:rPr lang="en-US" sz="640" noProof="1" i="1">
                <a:solidFill>
                  <a:srgbClr val="55637A"/>
                </a:solidFill>
                <a:latin typeface="Calibri"/>
                <a:ea typeface="Calibri"/>
              </a:rPr>
              <a:t>Investing in Comet</a:t>
            </a:r>
            <a:r>
              <a:rPr lang="en-US" sz="640" noProof="1" i="1">
                <a:solidFill>
                  <a:srgbClr val="55637A"/>
                </a:solidFill>
                <a:latin typeface="Calibri"/>
                <a:ea typeface="Calibri"/>
              </a:rPr>
              <a:t>. </a:t>
            </a:r>
            <a:r>
              <a:rPr lang="en-US" sz="640" noProof="1" i="1" u="sng">
                <a:solidFill>
                  <a:srgbClr val="0563C1"/>
                </a:solidFill>
                <a:latin typeface="Calibri"/>
                <a:ea typeface="Calibri"/>
                <a:hlinkClick r:id="rId6"/>
              </a:rPr>
              <a:t>elevationcapital.com/investing-in-comet</a:t>
            </a:r>
            <a:endParaRPr lang="en-US" sz="640" noProof="1"/>
          </a:p>
        </p:txBody>
      </p:sp>
      <p:sp>
        <p:nvSpPr>
          <p:cNvPr id="15" name="Shape 13"/>
          <p:cNvSpPr/>
          <p:nvPr/>
        </p:nvSpPr>
        <p:spPr>
          <a:xfrm>
            <a:off x="7983220" y="1774190"/>
            <a:ext cx="3456940" cy="2002790"/>
          </a:xfrm>
          <a:prstGeom prst="roundRect">
            <a:avLst>
              <a:gd name="adj" fmla="val 2283"/>
            </a:avLst>
          </a:prstGeom>
          <a:solidFill>
            <a:srgbClr val="F8FAEF"/>
          </a:solidFill>
          <a:ln w="12700">
            <a:solidFill>
              <a:srgbClr val="DDE6B8"/>
            </a:solidFill>
          </a:ln>
        </p:spPr>
      </p:sp>
      <p:sp>
        <p:nvSpPr>
          <p:cNvPr id="16" name="Shape 14"/>
          <p:cNvSpPr/>
          <p:nvPr/>
        </p:nvSpPr>
        <p:spPr>
          <a:xfrm>
            <a:off x="8192770" y="1957070"/>
            <a:ext cx="502920" cy="283210"/>
          </a:xfrm>
          <a:prstGeom prst="roundRect">
            <a:avLst>
              <a:gd name="adj" fmla="val 48387"/>
            </a:avLst>
          </a:prstGeom>
          <a:solidFill>
            <a:srgbClr val="88AB1A"/>
          </a:solidFill>
          <a:ln>
            <a:noFill/>
          </a:ln>
        </p:spPr>
      </p:sp>
      <p:sp>
        <p:nvSpPr>
          <p:cNvPr id="17" name="Text 15"/>
          <p:cNvSpPr txBox="1"/>
          <p:nvPr/>
        </p:nvSpPr>
        <p:spPr>
          <a:xfrm>
            <a:off x="8192770" y="1957070"/>
            <a:ext cx="502920" cy="28321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 marL="0">
              <a:lnSpc>
                <a:spcPct val="120000"/>
              </a:lnSpc>
            </a:pPr>
            <a:r>
              <a:rPr lang="en-US" sz="1050" noProof="1" b="1">
                <a:solidFill>
                  <a:srgbClr val="F3F6FB"/>
                </a:solidFill>
                <a:latin typeface="Calibri"/>
                <a:ea typeface="Calibri"/>
              </a:rPr>
              <a:t>E04</a:t>
            </a:r>
            <a:endParaRPr lang="en-US" sz="1050" noProof="1"/>
          </a:p>
        </p:txBody>
      </p:sp>
      <p:sp>
        <p:nvSpPr>
          <p:cNvPr id="18" name="Text 16"/>
          <p:cNvSpPr txBox="1"/>
          <p:nvPr/>
        </p:nvSpPr>
        <p:spPr>
          <a:xfrm>
            <a:off x="8192770" y="2322830"/>
            <a:ext cx="3035300" cy="7772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 marL="0">
              <a:lnSpc>
                <a:spcPct val="120000"/>
              </a:lnSpc>
            </a:pPr>
            <a:r>
              <a:rPr lang="en-US" sz="1150" noProof="1" b="1">
                <a:solidFill>
                  <a:srgbClr val="0B1E3D"/>
                </a:solidFill>
                <a:latin typeface="Bookman Old Style"/>
                <a:ea typeface="Bookman Old Style"/>
              </a:rPr>
              <a:t>No study has tested what customers will pay for Comet's ₹4,000–5,000 shoes — we only have general market-size forecasts.</a:t>
            </a:r>
            <a:endParaRPr lang="en-US" sz="1150" noProof="1"/>
          </a:p>
        </p:txBody>
      </p:sp>
      <p:sp>
        <p:nvSpPr>
          <p:cNvPr id="19" name="Text 17"/>
          <p:cNvSpPr txBox="1"/>
          <p:nvPr/>
        </p:nvSpPr>
        <p:spPr>
          <a:xfrm>
            <a:off x="8192770" y="3117850"/>
            <a:ext cx="30353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 marL="0">
              <a:lnSpc>
                <a:spcPct val="105000"/>
              </a:lnSpc>
            </a:pPr>
            <a:r>
              <a:rPr lang="en-US" sz="620" noProof="1" i="1">
                <a:solidFill>
                  <a:srgbClr val="55637A"/>
                </a:solidFill>
                <a:latin typeface="Calibri"/>
                <a:ea typeface="Calibri"/>
              </a:rPr>
              <a:t>Grand View Research. (n.d.). </a:t>
            </a:r>
            <a:r>
              <a:rPr lang="en-US" sz="620" noProof="1" i="1">
                <a:solidFill>
                  <a:srgbClr val="55637A"/>
                </a:solidFill>
                <a:latin typeface="Calibri"/>
                <a:ea typeface="Calibri"/>
              </a:rPr>
              <a:t>India sneakers market size &amp; outlook, 2026–2033</a:t>
            </a:r>
            <a:r>
              <a:rPr lang="en-US" sz="620" noProof="1" i="1">
                <a:solidFill>
                  <a:srgbClr val="55637A"/>
                </a:solidFill>
                <a:latin typeface="Calibri"/>
                <a:ea typeface="Calibri"/>
              </a:rPr>
              <a:t>. Retrieved August 18, 2026, from </a:t>
            </a:r>
            <a:r>
              <a:rPr lang="en-US" sz="620" noProof="1" i="1" u="sng">
                <a:solidFill>
                  <a:srgbClr val="0563C1"/>
                </a:solidFill>
                <a:latin typeface="Calibri"/>
                <a:ea typeface="Calibri"/>
                <a:hlinkClick r:id="rId7"/>
              </a:rPr>
              <a:t>grandviewresearch.com/horizon/outlook/sneakers-market/india</a:t>
            </a:r>
            <a:endParaRPr lang="en-US" sz="620" noProof="1"/>
          </a:p>
        </p:txBody>
      </p:sp>
      <p:sp>
        <p:nvSpPr>
          <p:cNvPr id="20" name="Shape 18"/>
          <p:cNvSpPr/>
          <p:nvPr/>
        </p:nvSpPr>
        <p:spPr>
          <a:xfrm>
            <a:off x="759460" y="3940810"/>
            <a:ext cx="3456940" cy="2002790"/>
          </a:xfrm>
          <a:prstGeom prst="roundRect">
            <a:avLst>
              <a:gd name="adj" fmla="val 2283"/>
            </a:avLst>
          </a:prstGeom>
          <a:solidFill>
            <a:srgbClr val="F8FAEF"/>
          </a:solidFill>
          <a:ln w="12700">
            <a:solidFill>
              <a:srgbClr val="DDE6B8"/>
            </a:solidFill>
          </a:ln>
        </p:spPr>
      </p:sp>
      <p:sp>
        <p:nvSpPr>
          <p:cNvPr id="21" name="Shape 19"/>
          <p:cNvSpPr/>
          <p:nvPr/>
        </p:nvSpPr>
        <p:spPr>
          <a:xfrm>
            <a:off x="969010" y="4123690"/>
            <a:ext cx="502920" cy="283210"/>
          </a:xfrm>
          <a:prstGeom prst="roundRect">
            <a:avLst>
              <a:gd name="adj" fmla="val 48387"/>
            </a:avLst>
          </a:prstGeom>
          <a:solidFill>
            <a:srgbClr val="88AB1A"/>
          </a:solidFill>
          <a:ln>
            <a:noFill/>
          </a:ln>
        </p:spPr>
      </p:sp>
      <p:sp>
        <p:nvSpPr>
          <p:cNvPr id="22" name="Text 20"/>
          <p:cNvSpPr txBox="1"/>
          <p:nvPr/>
        </p:nvSpPr>
        <p:spPr>
          <a:xfrm>
            <a:off x="969010" y="4123690"/>
            <a:ext cx="502920" cy="28321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 marL="0">
              <a:lnSpc>
                <a:spcPct val="120000"/>
              </a:lnSpc>
            </a:pPr>
            <a:r>
              <a:rPr lang="en-US" sz="1050" noProof="1" b="1">
                <a:solidFill>
                  <a:srgbClr val="F3F6FB"/>
                </a:solidFill>
                <a:latin typeface="Calibri"/>
                <a:ea typeface="Calibri"/>
              </a:rPr>
              <a:t>E05</a:t>
            </a:r>
            <a:endParaRPr lang="en-US" sz="1050" noProof="1"/>
          </a:p>
        </p:txBody>
      </p:sp>
      <p:sp>
        <p:nvSpPr>
          <p:cNvPr id="23" name="Text 21"/>
          <p:cNvSpPr txBox="1"/>
          <p:nvPr/>
        </p:nvSpPr>
        <p:spPr>
          <a:xfrm>
            <a:off x="969010" y="4489450"/>
            <a:ext cx="3035300" cy="7772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 marL="0">
              <a:lnSpc>
                <a:spcPct val="120000"/>
              </a:lnSpc>
            </a:pPr>
            <a:r>
              <a:rPr lang="en-US" sz="1150" noProof="1" b="1">
                <a:solidFill>
                  <a:srgbClr val="0B1E3D"/>
                </a:solidFill>
                <a:latin typeface="Bookman Old Style"/>
                <a:ea typeface="Bookman Old Style"/>
              </a:rPr>
              <a:t>The only public info on why buyers might pick a rival comes from Comet's own site reviews and an unclaimed CB Insights page.</a:t>
            </a:r>
            <a:endParaRPr lang="en-US" sz="1150" noProof="1"/>
          </a:p>
        </p:txBody>
      </p:sp>
      <p:sp>
        <p:nvSpPr>
          <p:cNvPr id="24" name="Text 22"/>
          <p:cNvSpPr txBox="1"/>
          <p:nvPr/>
        </p:nvSpPr>
        <p:spPr>
          <a:xfrm>
            <a:off x="969010" y="5280660"/>
            <a:ext cx="3035300" cy="61595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 marL="0">
              <a:lnSpc>
                <a:spcPct val="105000"/>
              </a:lnSpc>
            </a:pPr>
            <a:r>
              <a:rPr lang="en-US" sz="610" noProof="1" i="1">
                <a:solidFill>
                  <a:srgbClr val="55637A"/>
                </a:solidFill>
                <a:latin typeface="Calibri"/>
                <a:ea typeface="Calibri"/>
              </a:rPr>
              <a:t>Comet. (n.d.). </a:t>
            </a:r>
            <a:r>
              <a:rPr lang="en-US" sz="610" noProof="1" i="1">
                <a:solidFill>
                  <a:srgbClr val="55637A"/>
                </a:solidFill>
                <a:latin typeface="Calibri"/>
                <a:ea typeface="Calibri"/>
              </a:rPr>
              <a:t>Comet-X Lows Orchard</a:t>
            </a:r>
            <a:r>
              <a:rPr lang="en-US" sz="610" noProof="1" i="1">
                <a:solidFill>
                  <a:srgbClr val="55637A"/>
                </a:solidFill>
                <a:latin typeface="Calibri"/>
                <a:ea typeface="Calibri"/>
              </a:rPr>
              <a:t>. Retrieved August 18, 2026, from </a:t>
            </a:r>
            <a:r>
              <a:rPr lang="en-US" sz="610" noProof="1" i="1" u="sng">
                <a:solidFill>
                  <a:srgbClr val="0563C1"/>
                </a:solidFill>
                <a:latin typeface="Calibri"/>
                <a:ea typeface="Calibri"/>
                <a:hlinkClick r:id="rId8"/>
              </a:rPr>
              <a:t>wearcomet.com/products/x-lows-orchard</a:t>
            </a:r>
            <a:endParaRPr lang="en-US" sz="610" noProof="1"/>
          </a:p>
          <a:p>
            <a:pPr algn="l" marL="0">
              <a:lnSpc>
                <a:spcPct val="105000"/>
              </a:lnSpc>
            </a:pPr>
            <a:r>
              <a:rPr lang="en-US" sz="610" noProof="1" i="1">
                <a:solidFill>
                  <a:srgbClr val="55637A"/>
                </a:solidFill>
                <a:latin typeface="Calibri"/>
                <a:ea typeface="Calibri"/>
              </a:rPr>
              <a:t>CB Insights. (n.d.). </a:t>
            </a:r>
            <a:r>
              <a:rPr lang="en-US" sz="610" noProof="1" i="1">
                <a:solidFill>
                  <a:srgbClr val="55637A"/>
                </a:solidFill>
                <a:latin typeface="Calibri"/>
                <a:ea typeface="Calibri"/>
              </a:rPr>
              <a:t>Top Comet alternatives, competitors</a:t>
            </a:r>
            <a:r>
              <a:rPr lang="en-US" sz="610" noProof="1" i="1">
                <a:solidFill>
                  <a:srgbClr val="55637A"/>
                </a:solidFill>
                <a:latin typeface="Calibri"/>
                <a:ea typeface="Calibri"/>
              </a:rPr>
              <a:t>. Retrieved August 18, 2026, from </a:t>
            </a:r>
            <a:r>
              <a:rPr lang="en-US" sz="610" noProof="1" i="1" u="sng">
                <a:solidFill>
                  <a:srgbClr val="0563C1"/>
                </a:solidFill>
                <a:latin typeface="Calibri"/>
                <a:ea typeface="Calibri"/>
                <a:hlinkClick r:id="rId9"/>
              </a:rPr>
              <a:t>cbinsights.com/company/comet-10/alternatives-competitors</a:t>
            </a:r>
            <a:endParaRPr lang="en-US" sz="610" noProof="1"/>
          </a:p>
        </p:txBody>
      </p:sp>
      <p:sp>
        <p:nvSpPr>
          <p:cNvPr id="25" name="Shape 23"/>
          <p:cNvSpPr/>
          <p:nvPr/>
        </p:nvSpPr>
        <p:spPr>
          <a:xfrm>
            <a:off x="4371340" y="3940810"/>
            <a:ext cx="3456940" cy="2002790"/>
          </a:xfrm>
          <a:prstGeom prst="roundRect">
            <a:avLst>
              <a:gd name="adj" fmla="val 2283"/>
            </a:avLst>
          </a:prstGeom>
          <a:solidFill>
            <a:srgbClr val="F8FAEF"/>
          </a:solidFill>
          <a:ln w="12700">
            <a:solidFill>
              <a:srgbClr val="DDE6B8"/>
            </a:solidFill>
          </a:ln>
        </p:spPr>
      </p:sp>
      <p:sp>
        <p:nvSpPr>
          <p:cNvPr id="26" name="Shape 24"/>
          <p:cNvSpPr/>
          <p:nvPr/>
        </p:nvSpPr>
        <p:spPr>
          <a:xfrm>
            <a:off x="4580890" y="4123690"/>
            <a:ext cx="502920" cy="283210"/>
          </a:xfrm>
          <a:prstGeom prst="roundRect">
            <a:avLst>
              <a:gd name="adj" fmla="val 48387"/>
            </a:avLst>
          </a:prstGeom>
          <a:solidFill>
            <a:srgbClr val="88AB1A"/>
          </a:solidFill>
          <a:ln>
            <a:noFill/>
          </a:ln>
        </p:spPr>
      </p:sp>
      <p:sp>
        <p:nvSpPr>
          <p:cNvPr id="27" name="Text 25"/>
          <p:cNvSpPr txBox="1"/>
          <p:nvPr/>
        </p:nvSpPr>
        <p:spPr>
          <a:xfrm>
            <a:off x="4580890" y="4123690"/>
            <a:ext cx="502920" cy="28321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 marL="0">
              <a:lnSpc>
                <a:spcPct val="120000"/>
              </a:lnSpc>
            </a:pPr>
            <a:r>
              <a:rPr lang="en-US" sz="1050" noProof="1" b="1">
                <a:solidFill>
                  <a:srgbClr val="F3F6FB"/>
                </a:solidFill>
                <a:latin typeface="Calibri"/>
                <a:ea typeface="Calibri"/>
              </a:rPr>
              <a:t>E06</a:t>
            </a:r>
            <a:endParaRPr lang="en-US" sz="1050" noProof="1"/>
          </a:p>
        </p:txBody>
      </p:sp>
      <p:sp>
        <p:nvSpPr>
          <p:cNvPr id="28" name="Text 26"/>
          <p:cNvSpPr txBox="1"/>
          <p:nvPr/>
        </p:nvSpPr>
        <p:spPr>
          <a:xfrm>
            <a:off x="4580890" y="4489450"/>
            <a:ext cx="3035300" cy="596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 marL="0">
              <a:lnSpc>
                <a:spcPct val="120000"/>
              </a:lnSpc>
            </a:pPr>
            <a:r>
              <a:rPr lang="en-US" sz="1150" noProof="1" b="1">
                <a:solidFill>
                  <a:srgbClr val="0B1E3D"/>
                </a:solidFill>
                <a:latin typeface="Bookman Old Style"/>
                <a:ea typeface="Bookman Old Style"/>
              </a:rPr>
              <a:t>Comet has opened flagship stores in Bengaluru, Delhi and Mumbai — confirmed by four news sources.</a:t>
            </a:r>
            <a:endParaRPr lang="en-US" sz="1150" noProof="1"/>
          </a:p>
        </p:txBody>
      </p:sp>
      <p:sp>
        <p:nvSpPr>
          <p:cNvPr id="29" name="Text 27"/>
          <p:cNvSpPr txBox="1"/>
          <p:nvPr/>
        </p:nvSpPr>
        <p:spPr>
          <a:xfrm>
            <a:off x="4580890" y="5111750"/>
            <a:ext cx="3035300" cy="78105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 marL="0">
              <a:lnSpc>
                <a:spcPct val="105000"/>
              </a:lnSpc>
            </a:pPr>
            <a:r>
              <a:rPr lang="en-US" sz="580" noProof="1" i="1">
                <a:solidFill>
                  <a:srgbClr val="55637A"/>
                </a:solidFill>
                <a:latin typeface="Calibri"/>
                <a:ea typeface="Calibri"/>
              </a:rPr>
              <a:t>FashionNetwork India. (2025a, April 22). </a:t>
            </a:r>
            <a:r>
              <a:rPr lang="en-US" sz="580" noProof="1" i="1">
                <a:solidFill>
                  <a:srgbClr val="55637A"/>
                </a:solidFill>
                <a:latin typeface="Calibri"/>
                <a:ea typeface="Calibri"/>
              </a:rPr>
              <a:t>Comet launches first flagship store in Bengaluru</a:t>
            </a:r>
            <a:r>
              <a:rPr lang="en-US" sz="580" noProof="1" i="1">
                <a:solidFill>
                  <a:srgbClr val="55637A"/>
                </a:solidFill>
                <a:latin typeface="Calibri"/>
                <a:ea typeface="Calibri"/>
              </a:rPr>
              <a:t>. </a:t>
            </a:r>
            <a:r>
              <a:rPr lang="en-US" sz="580" noProof="1" i="1" u="sng">
                <a:solidFill>
                  <a:srgbClr val="0563C1"/>
                </a:solidFill>
                <a:latin typeface="Calibri"/>
                <a:ea typeface="Calibri"/>
                <a:hlinkClick r:id="rId10"/>
              </a:rPr>
              <a:t>in.fashionnetwork.com</a:t>
            </a:r>
            <a:endParaRPr lang="en-US" sz="580" noProof="1"/>
          </a:p>
          <a:p>
            <a:pPr algn="l" marL="0">
              <a:lnSpc>
                <a:spcPct val="105000"/>
              </a:lnSpc>
            </a:pPr>
            <a:r>
              <a:rPr lang="en-US" sz="580" noProof="1" i="1">
                <a:solidFill>
                  <a:srgbClr val="55637A"/>
                </a:solidFill>
                <a:latin typeface="Calibri"/>
                <a:ea typeface="Calibri"/>
              </a:rPr>
              <a:t>FashionNetwork India. (2025b, May 12). </a:t>
            </a:r>
            <a:r>
              <a:rPr lang="en-US" sz="580" noProof="1" i="1">
                <a:solidFill>
                  <a:srgbClr val="55637A"/>
                </a:solidFill>
                <a:latin typeface="Calibri"/>
                <a:ea typeface="Calibri"/>
              </a:rPr>
              <a:t>Comet eyes offline expansion in New Delhi and Mumbai following Bengaluru debut</a:t>
            </a:r>
            <a:r>
              <a:rPr lang="en-US" sz="580" noProof="1" i="1">
                <a:solidFill>
                  <a:srgbClr val="55637A"/>
                </a:solidFill>
                <a:latin typeface="Calibri"/>
                <a:ea typeface="Calibri"/>
              </a:rPr>
              <a:t>. </a:t>
            </a:r>
            <a:r>
              <a:rPr lang="en-US" sz="580" noProof="1" i="1" u="sng">
                <a:solidFill>
                  <a:srgbClr val="0563C1"/>
                </a:solidFill>
                <a:latin typeface="Calibri"/>
                <a:ea typeface="Calibri"/>
                <a:hlinkClick r:id="rId11"/>
              </a:rPr>
              <a:t>in.fashionnetwork.com</a:t>
            </a:r>
            <a:endParaRPr lang="en-US" sz="580" noProof="1"/>
          </a:p>
          <a:p>
            <a:pPr algn="l" marL="0">
              <a:lnSpc>
                <a:spcPct val="105000"/>
              </a:lnSpc>
            </a:pPr>
            <a:r>
              <a:rPr lang="en-US" sz="580" noProof="1" i="1">
                <a:solidFill>
                  <a:srgbClr val="55637A"/>
                </a:solidFill>
                <a:latin typeface="Calibri"/>
                <a:ea typeface="Calibri"/>
              </a:rPr>
              <a:t>Indian Retailer Bureau. (2025, April 21). </a:t>
            </a:r>
            <a:r>
              <a:rPr lang="en-US" sz="580" noProof="1" i="1">
                <a:solidFill>
                  <a:srgbClr val="55637A"/>
                </a:solidFill>
                <a:latin typeface="Calibri"/>
                <a:ea typeface="Calibri"/>
              </a:rPr>
              <a:t>Comet launches first flagship sneaker store in Bangalore’s Indiranagar</a:t>
            </a:r>
            <a:r>
              <a:rPr lang="en-US" sz="580" noProof="1" i="1">
                <a:solidFill>
                  <a:srgbClr val="55637A"/>
                </a:solidFill>
                <a:latin typeface="Calibri"/>
                <a:ea typeface="Calibri"/>
              </a:rPr>
              <a:t>. </a:t>
            </a:r>
            <a:r>
              <a:rPr lang="en-US" sz="580" noProof="1" i="1">
                <a:solidFill>
                  <a:srgbClr val="55637A"/>
                </a:solidFill>
                <a:latin typeface="Calibri"/>
                <a:ea typeface="Calibri"/>
              </a:rPr>
              <a:t>Indian Retailer</a:t>
            </a:r>
            <a:r>
              <a:rPr lang="en-US" sz="580" noProof="1" i="1">
                <a:solidFill>
                  <a:srgbClr val="55637A"/>
                </a:solidFill>
                <a:latin typeface="Calibri"/>
                <a:ea typeface="Calibri"/>
              </a:rPr>
              <a:t>. </a:t>
            </a:r>
            <a:r>
              <a:rPr lang="en-US" sz="580" noProof="1" i="1" u="sng">
                <a:solidFill>
                  <a:srgbClr val="0563C1"/>
                </a:solidFill>
                <a:latin typeface="Calibri"/>
                <a:ea typeface="Calibri"/>
                <a:hlinkClick r:id="rId12"/>
              </a:rPr>
              <a:t>indianretailer.com</a:t>
            </a:r>
            <a:endParaRPr lang="en-US" sz="580" noProof="1"/>
          </a:p>
          <a:p>
            <a:pPr algn="l" marL="0">
              <a:lnSpc>
                <a:spcPct val="105000"/>
              </a:lnSpc>
            </a:pPr>
            <a:r>
              <a:rPr lang="en-US" sz="580" noProof="1" i="1">
                <a:solidFill>
                  <a:srgbClr val="55637A"/>
                </a:solidFill>
                <a:latin typeface="Calibri"/>
                <a:ea typeface="Calibri"/>
              </a:rPr>
              <a:t>Broadway Live. (n.d.). </a:t>
            </a:r>
            <a:r>
              <a:rPr lang="en-US" sz="580" noProof="1" i="1">
                <a:solidFill>
                  <a:srgbClr val="55637A"/>
                </a:solidFill>
                <a:latin typeface="Calibri"/>
                <a:ea typeface="Calibri"/>
              </a:rPr>
              <a:t>Comet shoes India—Buy Comet sneakers online</a:t>
            </a:r>
            <a:r>
              <a:rPr lang="en-US" sz="580" noProof="1" i="1">
                <a:solidFill>
                  <a:srgbClr val="55637A"/>
                </a:solidFill>
                <a:latin typeface="Calibri"/>
                <a:ea typeface="Calibri"/>
              </a:rPr>
              <a:t>. Retrieved August 18, 2026, from </a:t>
            </a:r>
            <a:r>
              <a:rPr lang="en-US" sz="580" noProof="1" i="1" u="sng">
                <a:solidFill>
                  <a:srgbClr val="0563C1"/>
                </a:solidFill>
                <a:latin typeface="Calibri"/>
                <a:ea typeface="Calibri"/>
                <a:hlinkClick r:id="rId13"/>
              </a:rPr>
              <a:t>shop.broadwaylive.in/collections/comet</a:t>
            </a:r>
            <a:endParaRPr lang="en-US" sz="580" noProof="1"/>
          </a:p>
        </p:txBody>
      </p:sp>
      <p:sp>
        <p:nvSpPr>
          <p:cNvPr id="30" name="Shape 28"/>
          <p:cNvSpPr/>
          <p:nvPr/>
        </p:nvSpPr>
        <p:spPr>
          <a:xfrm>
            <a:off x="7983220" y="3940810"/>
            <a:ext cx="3456940" cy="2002790"/>
          </a:xfrm>
          <a:prstGeom prst="roundRect">
            <a:avLst>
              <a:gd name="adj" fmla="val 2283"/>
            </a:avLst>
          </a:prstGeom>
          <a:solidFill>
            <a:srgbClr val="F8FAEF"/>
          </a:solidFill>
          <a:ln w="12700">
            <a:solidFill>
              <a:srgbClr val="DDE6B8"/>
            </a:solidFill>
          </a:ln>
        </p:spPr>
      </p:sp>
      <p:sp>
        <p:nvSpPr>
          <p:cNvPr id="31" name="Shape 29"/>
          <p:cNvSpPr/>
          <p:nvPr/>
        </p:nvSpPr>
        <p:spPr>
          <a:xfrm>
            <a:off x="8192770" y="4123690"/>
            <a:ext cx="502920" cy="283210"/>
          </a:xfrm>
          <a:prstGeom prst="roundRect">
            <a:avLst>
              <a:gd name="adj" fmla="val 48387"/>
            </a:avLst>
          </a:prstGeom>
          <a:solidFill>
            <a:srgbClr val="88AB1A"/>
          </a:solidFill>
          <a:ln>
            <a:noFill/>
          </a:ln>
        </p:spPr>
      </p:sp>
      <p:sp>
        <p:nvSpPr>
          <p:cNvPr id="32" name="Text 30"/>
          <p:cNvSpPr txBox="1"/>
          <p:nvPr/>
        </p:nvSpPr>
        <p:spPr>
          <a:xfrm>
            <a:off x="8192770" y="4123690"/>
            <a:ext cx="502920" cy="28321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 marL="0">
              <a:lnSpc>
                <a:spcPct val="120000"/>
              </a:lnSpc>
            </a:pPr>
            <a:r>
              <a:rPr lang="en-US" sz="1050" noProof="1" b="1">
                <a:solidFill>
                  <a:srgbClr val="F3F6FB"/>
                </a:solidFill>
                <a:latin typeface="Calibri"/>
                <a:ea typeface="Calibri"/>
              </a:rPr>
              <a:t>E08</a:t>
            </a:r>
            <a:endParaRPr lang="en-US" sz="1050" noProof="1"/>
          </a:p>
        </p:txBody>
      </p:sp>
      <p:sp>
        <p:nvSpPr>
          <p:cNvPr id="33" name="Text 31"/>
          <p:cNvSpPr txBox="1"/>
          <p:nvPr/>
        </p:nvSpPr>
        <p:spPr>
          <a:xfrm>
            <a:off x="8192770" y="4489450"/>
            <a:ext cx="3035300" cy="7772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 marL="0">
              <a:lnSpc>
                <a:spcPct val="120000"/>
              </a:lnSpc>
            </a:pPr>
            <a:r>
              <a:rPr lang="en-US" sz="1150" noProof="1" b="1">
                <a:solidFill>
                  <a:srgbClr val="0B1E3D"/>
                </a:solidFill>
                <a:latin typeface="Bookman Old Style"/>
                <a:ea typeface="Bookman Old Style"/>
              </a:rPr>
              <a:t>Comet currently sells 15+ product variants, all colours of one shoe model. We still need competitor numbers to compare.</a:t>
            </a:r>
            <a:endParaRPr lang="en-US" sz="1150" noProof="1"/>
          </a:p>
        </p:txBody>
      </p:sp>
      <p:sp>
        <p:nvSpPr>
          <p:cNvPr id="34" name="Text 32"/>
          <p:cNvSpPr txBox="1"/>
          <p:nvPr/>
        </p:nvSpPr>
        <p:spPr>
          <a:xfrm>
            <a:off x="8192770" y="5280660"/>
            <a:ext cx="3035300" cy="61595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 marL="0">
              <a:lnSpc>
                <a:spcPct val="105000"/>
              </a:lnSpc>
            </a:pPr>
            <a:r>
              <a:rPr lang="en-US" sz="640" noProof="1" i="1">
                <a:solidFill>
                  <a:srgbClr val="55637A"/>
                </a:solidFill>
                <a:latin typeface="Calibri"/>
                <a:ea typeface="Calibri"/>
              </a:rPr>
              <a:t>Inc42. (2025, January 31). </a:t>
            </a:r>
            <a:r>
              <a:rPr lang="en-US" sz="640" noProof="1" i="1">
                <a:solidFill>
                  <a:srgbClr val="55637A"/>
                </a:solidFill>
                <a:latin typeface="Calibri"/>
                <a:ea typeface="Calibri"/>
              </a:rPr>
              <a:t>Can Comet stir up a sneaker revolution with its storytelling playbook?</a:t>
            </a:r>
            <a:r>
              <a:rPr lang="en-US" sz="640" noProof="1" i="1">
                <a:solidFill>
                  <a:srgbClr val="55637A"/>
                </a:solidFill>
                <a:latin typeface="Calibri"/>
                <a:ea typeface="Calibri"/>
              </a:rPr>
              <a:t> </a:t>
            </a:r>
            <a:r>
              <a:rPr lang="en-US" sz="640" noProof="1" i="1" u="sng">
                <a:solidFill>
                  <a:srgbClr val="0563C1"/>
                </a:solidFill>
                <a:latin typeface="Calibri"/>
                <a:ea typeface="Calibri"/>
                <a:hlinkClick r:id="rId5"/>
              </a:rPr>
              <a:t>inc42.com</a:t>
            </a:r>
            <a:endParaRPr lang="en-US" sz="640" noProof="1"/>
          </a:p>
        </p:txBody>
      </p:sp>
      <p:sp>
        <p:nvSpPr>
          <p:cNvPr id="35" name="Text 33"/>
          <p:cNvSpPr txBox="1"/>
          <p:nvPr/>
        </p:nvSpPr>
        <p:spPr>
          <a:xfrm>
            <a:off x="759460" y="6501130"/>
            <a:ext cx="5486400" cy="17399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 marL="0">
              <a:lnSpc>
                <a:spcPct val="120000"/>
              </a:lnSpc>
            </a:pPr>
            <a:r>
              <a:rPr lang="en-US" sz="950" noProof="1">
                <a:solidFill>
                  <a:srgbClr val="55637A"/>
                </a:solidFill>
                <a:latin typeface="Calibri"/>
                <a:ea typeface="Calibri"/>
              </a:rPr>
              <a:t>Capstone WIP  ·  Foundations of AI in Business  ·  Learning Team 04</a:t>
            </a:r>
            <a:endParaRPr lang="en-US" sz="950" noProof="1"/>
          </a:p>
        </p:txBody>
      </p:sp>
      <p:sp>
        <p:nvSpPr>
          <p:cNvPr id="36" name="Text 34"/>
          <p:cNvSpPr txBox="1"/>
          <p:nvPr/>
        </p:nvSpPr>
        <p:spPr>
          <a:xfrm>
            <a:off x="11046460" y="6501130"/>
            <a:ext cx="383540" cy="17399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r" marL="0">
              <a:lnSpc>
                <a:spcPct val="120000"/>
              </a:lnSpc>
            </a:pPr>
            <a:r>
              <a:rPr lang="en-US" sz="950" noProof="1">
                <a:solidFill>
                  <a:srgbClr val="55637A"/>
                </a:solidFill>
                <a:latin typeface="Calibri"/>
                <a:ea typeface="Calibri"/>
              </a:rPr>
              <a:t>5</a:t>
            </a:r>
            <a:endParaRPr lang="en-US" sz="950" noProof="1"/>
          </a:p>
        </p:txBody>
      </p:sp>
      <p:pic>
        <p:nvPicPr>
          <p:cNvPr id="37" name="ShoePhoto"/>
          <p:cNvPicPr/>
          <p:nvPr/>
        </p:nvPicPr>
        <p:blipFill>
          <a:blip r:embed="rId2"/>
          <a:srcRect l="3368" r="3368"/>
          <a:stretch>
            <a:fillRect/>
          </a:stretch>
        </p:blipFill>
        <p:spPr>
          <a:xfrm>
            <a:off x="9855200" y="304800"/>
            <a:ext cx="1574800" cy="990600"/>
          </a:xfrm>
          <a:prstGeom prst="roundRect">
            <a:avLst>
              <a:gd name="adj" fmla="val 8000"/>
            </a:avLst>
          </a:prstGeom>
          <a:ln>
            <a:noFill/>
          </a:ln>
          <a:effectLst>
            <a:outerShdw blurRad="101600" dist="38100" dir="5400000" sx="100000" sy="100000" kx="0" ky="0" algn="bl" rotWithShape="0">
              <a:srgbClr val="000000">
                <a:alpha val="14902"/>
              </a:srgbClr>
            </a:outerShdw>
          </a:effectLst>
        </p:spPr>
      </p:pic>
      <p:sp>
        <p:nvSpPr>
          <p:cNvPr id="38" name="ShoeLabelBg"/>
          <p:cNvSpPr/>
          <p:nvPr/>
        </p:nvSpPr>
        <p:spPr>
          <a:xfrm>
            <a:off x="9855200" y="1117600"/>
            <a:ext cx="1574800" cy="177800"/>
          </a:xfrm>
          <a:prstGeom prst="roundRect">
            <a:avLst>
              <a:gd name="adj" fmla="val 30000"/>
            </a:avLst>
          </a:prstGeom>
          <a:solidFill>
            <a:srgbClr val="5F7A10">
              <a:alpha val="90196"/>
            </a:srgbClr>
          </a:solidFill>
          <a:ln>
            <a:noFill/>
          </a:ln>
        </p:spPr>
      </p:sp>
      <p:sp>
        <p:nvSpPr>
          <p:cNvPr id="39" name="ShoeLabel"/>
          <p:cNvSpPr txBox="1"/>
          <p:nvPr/>
        </p:nvSpPr>
        <p:spPr>
          <a:xfrm>
            <a:off x="9855200" y="1117600"/>
            <a:ext cx="15748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750" noProof="1" b="1" spc="100" kern="0">
                <a:solidFill>
                  <a:srgbClr val="FFFFFF"/>
                </a:solidFill>
                <a:latin typeface="MiSans"/>
                <a:ea typeface="MiSans"/>
              </a:rPr>
              <a:t>COMET RADIOACTIVE</a:t>
            </a:r>
            <a:endParaRPr lang="en-US" sz="750" noProof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BEC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59460" y="55753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 marL="0">
              <a:lnSpc>
                <a:spcPct val="120000"/>
              </a:lnSpc>
            </a:pPr>
            <a:r>
              <a:rPr lang="en-US" sz="1300" noProof="1" b="1" spc="200" kern="0">
                <a:solidFill>
                  <a:srgbClr val="D6336C"/>
                </a:solidFill>
                <a:latin typeface="Calibri"/>
                <a:ea typeface="Calibri"/>
              </a:rPr>
              <a:t>METHOD</a:t>
            </a:r>
            <a:endParaRPr lang="en-US" sz="1300" noProof="1"/>
          </a:p>
        </p:txBody>
      </p:sp>
      <p:sp>
        <p:nvSpPr>
          <p:cNvPr id="3" name="Text 1"/>
          <p:cNvSpPr txBox="1"/>
          <p:nvPr/>
        </p:nvSpPr>
        <p:spPr>
          <a:xfrm>
            <a:off x="740410" y="859790"/>
            <a:ext cx="10058400" cy="55753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 marL="0">
              <a:lnSpc>
                <a:spcPct val="120000"/>
              </a:lnSpc>
            </a:pPr>
            <a:r>
              <a:rPr lang="en-US" sz="3200" noProof="1" b="1">
                <a:solidFill>
                  <a:srgbClr val="0B1E3D"/>
                </a:solidFill>
                <a:latin typeface="Bookman Old Style"/>
                <a:ea typeface="Bookman Old Style"/>
              </a:rPr>
              <a:t>Where AI Helped — and What We Checked</a:t>
            </a:r>
            <a:endParaRPr lang="en-US" sz="3200" noProof="1"/>
          </a:p>
        </p:txBody>
      </p:sp>
      <p:sp>
        <p:nvSpPr>
          <p:cNvPr id="4" name="Shape 2"/>
          <p:cNvSpPr/>
          <p:nvPr/>
        </p:nvSpPr>
        <p:spPr>
          <a:xfrm>
            <a:off x="759460" y="1774190"/>
            <a:ext cx="5184140" cy="4215130"/>
          </a:xfrm>
          <a:prstGeom prst="roundRect">
            <a:avLst>
              <a:gd name="adj" fmla="val 1302"/>
            </a:avLst>
          </a:prstGeom>
          <a:solidFill>
            <a:srgbClr val="FDF5F8"/>
          </a:solidFill>
          <a:ln w="12700">
            <a:solidFill>
              <a:srgbClr val="EFCBDA"/>
            </a:solidFill>
          </a:ln>
        </p:spPr>
      </p:sp>
      <p:sp>
        <p:nvSpPr>
          <p:cNvPr id="5" name="Shape 3"/>
          <p:cNvSpPr/>
          <p:nvPr/>
        </p:nvSpPr>
        <p:spPr>
          <a:xfrm>
            <a:off x="1170940" y="2185670"/>
            <a:ext cx="631190" cy="631190"/>
          </a:xfrm>
          <a:prstGeom prst="ellipse">
            <a:avLst/>
          </a:prstGeom>
          <a:solidFill>
            <a:srgbClr val="D6336C"/>
          </a:solidFill>
          <a:ln>
            <a:noFill/>
          </a:ln>
        </p:spPr>
      </p:sp>
      <p:sp>
        <p:nvSpPr>
          <p:cNvPr id="6" name="Text 4"/>
          <p:cNvSpPr txBox="1"/>
          <p:nvPr/>
        </p:nvSpPr>
        <p:spPr>
          <a:xfrm>
            <a:off x="1170940" y="2185670"/>
            <a:ext cx="631190" cy="63119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 marL="0">
              <a:lnSpc>
                <a:spcPct val="120000"/>
              </a:lnSpc>
            </a:pPr>
            <a:r>
              <a:rPr lang="en-US" sz="1800" noProof="1" b="1">
                <a:solidFill>
                  <a:srgbClr val="F3F6FB"/>
                </a:solidFill>
                <a:latin typeface="Calibri"/>
                <a:ea typeface="Calibri"/>
              </a:rPr>
              <a:t>★</a:t>
            </a:r>
            <a:endParaRPr lang="en-US" sz="1800" noProof="1"/>
          </a:p>
        </p:txBody>
      </p:sp>
      <p:sp>
        <p:nvSpPr>
          <p:cNvPr id="7" name="Text 5"/>
          <p:cNvSpPr txBox="1"/>
          <p:nvPr/>
        </p:nvSpPr>
        <p:spPr>
          <a:xfrm>
            <a:off x="2002790" y="2185670"/>
            <a:ext cx="3657600" cy="63119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 marL="0">
              <a:lnSpc>
                <a:spcPct val="120000"/>
              </a:lnSpc>
            </a:pPr>
            <a:r>
              <a:rPr lang="en-US" sz="2100" noProof="1" b="1">
                <a:solidFill>
                  <a:srgbClr val="2A1220"/>
                </a:solidFill>
                <a:latin typeface="Bookman Old Style"/>
                <a:ea typeface="Bookman Old Style"/>
              </a:rPr>
              <a:t>Where We Used AI</a:t>
            </a:r>
            <a:endParaRPr lang="en-US" sz="2100" noProof="1"/>
          </a:p>
        </p:txBody>
      </p:sp>
      <p:sp>
        <p:nvSpPr>
          <p:cNvPr id="8" name="Text 6"/>
          <p:cNvSpPr txBox="1"/>
          <p:nvPr/>
        </p:nvSpPr>
        <p:spPr>
          <a:xfrm>
            <a:off x="1170940" y="3045460"/>
            <a:ext cx="4417060" cy="279781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 marL="228600">
              <a:lnSpc>
                <a:spcPct val="130000"/>
              </a:lnSpc>
              <a:spcBef>
                <a:spcPts val="10"/>
              </a:spcBef>
              <a:buChar char="●"/>
            </a:pPr>
            <a:r>
              <a:rPr lang="en-US" sz="1350" noProof="1">
                <a:solidFill>
                  <a:srgbClr val="2A1220"/>
                </a:solidFill>
                <a:latin typeface="Calibri"/>
                <a:ea typeface="Calibri"/>
              </a:rPr>
              <a:t>Searched news and trade articles for real facts about Comet's market, customers and rivals</a:t>
            </a:r>
            <a:endParaRPr lang="en-US" sz="1350" noProof="1"/>
          </a:p>
          <a:p>
            <a:pPr algn="l" marL="228600">
              <a:lnSpc>
                <a:spcPct val="130000"/>
              </a:lnSpc>
              <a:spcBef>
                <a:spcPts val="10"/>
              </a:spcBef>
              <a:buChar char="●"/>
            </a:pPr>
            <a:r>
              <a:rPr lang="en-US" sz="1350" noProof="1">
                <a:solidFill>
                  <a:srgbClr val="2A1220"/>
                </a:solidFill>
                <a:latin typeface="Calibri"/>
                <a:ea typeface="Calibri"/>
              </a:rPr>
              <a:t>Turned long articles into short, plain-language summaries</a:t>
            </a:r>
            <a:endParaRPr lang="en-US" sz="1350" noProof="1"/>
          </a:p>
          <a:p>
            <a:pPr algn="l" marL="228600">
              <a:lnSpc>
                <a:spcPct val="130000"/>
              </a:lnSpc>
              <a:spcBef>
                <a:spcPts val="10"/>
              </a:spcBef>
              <a:buChar char="●"/>
            </a:pPr>
            <a:r>
              <a:rPr lang="en-US" sz="1350" noProof="1">
                <a:solidFill>
                  <a:srgbClr val="2A1220"/>
                </a:solidFill>
                <a:latin typeface="Calibri"/>
                <a:ea typeface="Calibri"/>
              </a:rPr>
              <a:t>Challenged our first findings and pushed us to check other angles</a:t>
            </a:r>
            <a:endParaRPr lang="en-US" sz="1350" noProof="1"/>
          </a:p>
          <a:p>
            <a:pPr algn="l" marL="228600">
              <a:lnSpc>
                <a:spcPct val="130000"/>
              </a:lnSpc>
              <a:spcBef>
                <a:spcPts val="10"/>
              </a:spcBef>
              <a:buChar char="●"/>
            </a:pPr>
            <a:r>
              <a:rPr lang="en-US" sz="1350" noProof="1">
                <a:solidFill>
                  <a:srgbClr val="2A1220"/>
                </a:solidFill>
                <a:latin typeface="Calibri"/>
                <a:ea typeface="Calibri"/>
              </a:rPr>
              <a:t>Helped design this presentation and the Advisor concept</a:t>
            </a:r>
            <a:endParaRPr lang="en-US" sz="1350" noProof="1"/>
          </a:p>
        </p:txBody>
      </p:sp>
      <p:sp>
        <p:nvSpPr>
          <p:cNvPr id="9" name="Shape 7"/>
          <p:cNvSpPr/>
          <p:nvPr/>
        </p:nvSpPr>
        <p:spPr>
          <a:xfrm>
            <a:off x="6245860" y="1774190"/>
            <a:ext cx="5184140" cy="4215130"/>
          </a:xfrm>
          <a:prstGeom prst="roundRect">
            <a:avLst>
              <a:gd name="adj" fmla="val 1302"/>
            </a:avLst>
          </a:prstGeom>
          <a:solidFill>
            <a:srgbClr val="FDF5F8"/>
          </a:solidFill>
          <a:ln w="12700">
            <a:solidFill>
              <a:srgbClr val="EFCBDA"/>
            </a:solidFill>
          </a:ln>
        </p:spPr>
      </p:sp>
      <p:sp>
        <p:nvSpPr>
          <p:cNvPr id="10" name="Shape 8"/>
          <p:cNvSpPr/>
          <p:nvPr/>
        </p:nvSpPr>
        <p:spPr>
          <a:xfrm>
            <a:off x="6657340" y="2185670"/>
            <a:ext cx="631190" cy="631190"/>
          </a:xfrm>
          <a:prstGeom prst="ellipse">
            <a:avLst/>
          </a:prstGeom>
          <a:solidFill>
            <a:srgbClr val="D6336C"/>
          </a:solidFill>
          <a:ln>
            <a:noFill/>
          </a:ln>
        </p:spPr>
      </p:sp>
      <p:sp>
        <p:nvSpPr>
          <p:cNvPr id="11" name="Text 9"/>
          <p:cNvSpPr txBox="1"/>
          <p:nvPr/>
        </p:nvSpPr>
        <p:spPr>
          <a:xfrm>
            <a:off x="6657340" y="2185670"/>
            <a:ext cx="631190" cy="63119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 marL="0">
              <a:lnSpc>
                <a:spcPct val="120000"/>
              </a:lnSpc>
            </a:pPr>
            <a:r>
              <a:rPr lang="en-US" sz="1800" noProof="1" b="1">
                <a:solidFill>
                  <a:srgbClr val="F3F6FB"/>
                </a:solidFill>
                <a:latin typeface="Calibri"/>
                <a:ea typeface="Calibri"/>
              </a:rPr>
              <a:t>★</a:t>
            </a:r>
            <a:endParaRPr lang="en-US" sz="1800" noProof="1"/>
          </a:p>
        </p:txBody>
      </p:sp>
      <p:sp>
        <p:nvSpPr>
          <p:cNvPr id="12" name="Text 10"/>
          <p:cNvSpPr txBox="1"/>
          <p:nvPr/>
        </p:nvSpPr>
        <p:spPr>
          <a:xfrm>
            <a:off x="7489190" y="2185670"/>
            <a:ext cx="3657600" cy="63119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 marL="0">
              <a:lnSpc>
                <a:spcPct val="120000"/>
              </a:lnSpc>
            </a:pPr>
            <a:r>
              <a:rPr lang="en-US" sz="2100" noProof="1" b="1">
                <a:solidFill>
                  <a:srgbClr val="2A1220"/>
                </a:solidFill>
                <a:latin typeface="Bookman Old Style"/>
                <a:ea typeface="Bookman Old Style"/>
              </a:rPr>
              <a:t>What We Checked Ourselves</a:t>
            </a:r>
            <a:endParaRPr lang="en-US" sz="2100" noProof="1"/>
          </a:p>
        </p:txBody>
      </p:sp>
      <p:sp>
        <p:nvSpPr>
          <p:cNvPr id="13" name="Text 11"/>
          <p:cNvSpPr txBox="1"/>
          <p:nvPr/>
        </p:nvSpPr>
        <p:spPr>
          <a:xfrm>
            <a:off x="6657340" y="3045460"/>
            <a:ext cx="4417060" cy="279781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 marL="228600">
              <a:lnSpc>
                <a:spcPct val="130000"/>
              </a:lnSpc>
              <a:spcBef>
                <a:spcPts val="10"/>
              </a:spcBef>
              <a:buChar char="●"/>
            </a:pPr>
            <a:r>
              <a:rPr lang="en-US" sz="1350" noProof="1">
                <a:solidFill>
                  <a:srgbClr val="2A1220"/>
                </a:solidFill>
                <a:latin typeface="Calibri"/>
                <a:ea typeface="Calibri"/>
              </a:rPr>
              <a:t>Made sure every fact came from a real, free, public source</a:t>
            </a:r>
            <a:endParaRPr lang="en-US" sz="1350" noProof="1"/>
          </a:p>
          <a:p>
            <a:pPr algn="l" marL="228600">
              <a:lnSpc>
                <a:spcPct val="130000"/>
              </a:lnSpc>
              <a:spcBef>
                <a:spcPts val="10"/>
              </a:spcBef>
              <a:buChar char="●"/>
            </a:pPr>
            <a:r>
              <a:rPr lang="en-US" sz="1350" noProof="1">
                <a:solidFill>
                  <a:srgbClr val="2A1220"/>
                </a:solidFill>
                <a:latin typeface="Calibri"/>
                <a:ea typeface="Calibri"/>
              </a:rPr>
              <a:t>Read the full article, not just the headline</a:t>
            </a:r>
            <a:endParaRPr lang="en-US" sz="1350" noProof="1"/>
          </a:p>
          <a:p>
            <a:pPr algn="l" marL="228600">
              <a:lnSpc>
                <a:spcPct val="130000"/>
              </a:lnSpc>
              <a:spcBef>
                <a:spcPts val="10"/>
              </a:spcBef>
              <a:buChar char="●"/>
            </a:pPr>
            <a:r>
              <a:rPr lang="en-US" sz="1350" noProof="1">
                <a:solidFill>
                  <a:srgbClr val="2A1220"/>
                </a:solidFill>
                <a:latin typeface="Calibri"/>
                <a:ea typeface="Calibri"/>
              </a:rPr>
              <a:t>Wrote down the exact source and date, so anyone can check it</a:t>
            </a:r>
            <a:endParaRPr lang="en-US" sz="1350" noProof="1"/>
          </a:p>
          <a:p>
            <a:pPr algn="l" marL="228600">
              <a:lnSpc>
                <a:spcPct val="130000"/>
              </a:lnSpc>
              <a:spcBef>
                <a:spcPts val="10"/>
              </a:spcBef>
              <a:buChar char="●"/>
            </a:pPr>
            <a:r>
              <a:rPr lang="en-US" sz="1350" noProof="1">
                <a:solidFill>
                  <a:srgbClr val="2A1220"/>
                </a:solidFill>
                <a:latin typeface="Calibri"/>
                <a:ea typeface="Calibri"/>
              </a:rPr>
              <a:t>Marked anything we couldn't confirm as OPEN — no guessing</a:t>
            </a:r>
            <a:endParaRPr lang="en-US" sz="1350" noProof="1"/>
          </a:p>
        </p:txBody>
      </p:sp>
      <p:sp>
        <p:nvSpPr>
          <p:cNvPr id="14" name="Text 12"/>
          <p:cNvSpPr txBox="1"/>
          <p:nvPr/>
        </p:nvSpPr>
        <p:spPr>
          <a:xfrm>
            <a:off x="759460" y="6501130"/>
            <a:ext cx="5486400" cy="17399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 marL="0">
              <a:lnSpc>
                <a:spcPct val="120000"/>
              </a:lnSpc>
            </a:pPr>
            <a:r>
              <a:rPr lang="en-US" sz="950" noProof="1">
                <a:solidFill>
                  <a:srgbClr val="55637A"/>
                </a:solidFill>
                <a:latin typeface="Calibri"/>
                <a:ea typeface="Calibri"/>
              </a:rPr>
              <a:t>Capstone WIP  ·  Foundations of AI in Business  ·  Learning Team 04</a:t>
            </a:r>
            <a:endParaRPr lang="en-US" sz="950" noProof="1"/>
          </a:p>
        </p:txBody>
      </p:sp>
      <p:sp>
        <p:nvSpPr>
          <p:cNvPr id="15" name="Text 13"/>
          <p:cNvSpPr txBox="1"/>
          <p:nvPr/>
        </p:nvSpPr>
        <p:spPr>
          <a:xfrm>
            <a:off x="11046460" y="6501130"/>
            <a:ext cx="383540" cy="17399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r" marL="0">
              <a:lnSpc>
                <a:spcPct val="120000"/>
              </a:lnSpc>
            </a:pPr>
            <a:r>
              <a:rPr lang="en-US" sz="950" noProof="1">
                <a:solidFill>
                  <a:srgbClr val="55637A"/>
                </a:solidFill>
                <a:latin typeface="Calibri"/>
                <a:ea typeface="Calibri"/>
              </a:rPr>
              <a:t>6</a:t>
            </a:r>
            <a:endParaRPr lang="en-US" sz="950" noProof="1"/>
          </a:p>
        </p:txBody>
      </p:sp>
      <p:pic>
        <p:nvPicPr>
          <p:cNvPr id="16" name="ShoePhoto"/>
          <p:cNvPicPr/>
          <p:nvPr/>
        </p:nvPicPr>
        <p:blipFill>
          <a:blip r:embed="rId2"/>
          <a:srcRect t="115" b="115"/>
          <a:stretch>
            <a:fillRect/>
          </a:stretch>
        </p:blipFill>
        <p:spPr>
          <a:xfrm>
            <a:off x="8890000" y="4673600"/>
            <a:ext cx="2184400" cy="1117600"/>
          </a:xfrm>
          <a:prstGeom prst="roundRect">
            <a:avLst>
              <a:gd name="adj" fmla="val 8000"/>
            </a:avLst>
          </a:prstGeom>
          <a:ln>
            <a:noFill/>
          </a:ln>
          <a:effectLst>
            <a:outerShdw blurRad="101600" dist="38100" dir="5400000" sx="100000" sy="100000" kx="0" ky="0" algn="bl" rotWithShape="0">
              <a:srgbClr val="000000">
                <a:alpha val="14902"/>
              </a:srgbClr>
            </a:outerShdw>
          </a:effectLst>
        </p:spPr>
      </p:pic>
      <p:sp>
        <p:nvSpPr>
          <p:cNvPr id="17" name="ShoeLabelBg"/>
          <p:cNvSpPr/>
          <p:nvPr/>
        </p:nvSpPr>
        <p:spPr>
          <a:xfrm>
            <a:off x="8890000" y="5613400"/>
            <a:ext cx="2184400" cy="177800"/>
          </a:xfrm>
          <a:prstGeom prst="roundRect">
            <a:avLst>
              <a:gd name="adj" fmla="val 30000"/>
            </a:avLst>
          </a:prstGeom>
          <a:solidFill>
            <a:srgbClr val="A12453">
              <a:alpha val="90196"/>
            </a:srgbClr>
          </a:solidFill>
          <a:ln>
            <a:noFill/>
          </a:ln>
        </p:spPr>
      </p:sp>
      <p:sp>
        <p:nvSpPr>
          <p:cNvPr id="18" name="ShoeLabel"/>
          <p:cNvSpPr txBox="1"/>
          <p:nvPr/>
        </p:nvSpPr>
        <p:spPr>
          <a:xfrm>
            <a:off x="8890000" y="5613400"/>
            <a:ext cx="21844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750" noProof="1" b="1" spc="100" kern="0">
                <a:solidFill>
                  <a:srgbClr val="FFFFFF"/>
                </a:solidFill>
                <a:latin typeface="MiSans"/>
                <a:ea typeface="MiSans"/>
              </a:rPr>
              <a:t>COMET × ODD NOTEVEN</a:t>
            </a:r>
            <a:endParaRPr lang="en-US" sz="750" noProof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EC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59460" y="55753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 marL="0">
              <a:lnSpc>
                <a:spcPct val="120000"/>
              </a:lnSpc>
            </a:pPr>
            <a:r>
              <a:rPr lang="en-US" sz="1300" noProof="1" b="1" spc="200" kern="0">
                <a:solidFill>
                  <a:srgbClr val="C9232A"/>
                </a:solidFill>
                <a:latin typeface="Calibri"/>
                <a:ea typeface="Calibri"/>
              </a:rPr>
              <a:t>OUR AI SOLUTION</a:t>
            </a:r>
            <a:endParaRPr lang="en-US" sz="1300" noProof="1"/>
          </a:p>
        </p:txBody>
      </p:sp>
      <p:sp>
        <p:nvSpPr>
          <p:cNvPr id="3" name="Text 1"/>
          <p:cNvSpPr txBox="1"/>
          <p:nvPr/>
        </p:nvSpPr>
        <p:spPr>
          <a:xfrm>
            <a:off x="740410" y="859790"/>
            <a:ext cx="9326880" cy="58547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 marL="0">
              <a:lnSpc>
                <a:spcPct val="120000"/>
              </a:lnSpc>
            </a:pPr>
            <a:r>
              <a:rPr lang="en-US" sz="2800" noProof="1" b="1">
                <a:solidFill>
                  <a:srgbClr val="240A0D"/>
                </a:solidFill>
                <a:latin typeface="Bookman Old Style"/>
                <a:ea typeface="Bookman Old Style"/>
              </a:rPr>
              <a:t>Comet Growth &amp; Positioning Advisor</a:t>
            </a:r>
            <a:endParaRPr lang="en-US" sz="2800" noProof="1"/>
          </a:p>
        </p:txBody>
      </p:sp>
      <p:sp>
        <p:nvSpPr>
          <p:cNvPr id="4" name="Text 2"/>
          <p:cNvSpPr txBox="1"/>
          <p:nvPr/>
        </p:nvSpPr>
        <p:spPr>
          <a:xfrm>
            <a:off x="759460" y="1526540"/>
            <a:ext cx="8129270" cy="2565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 marL="0">
              <a:lnSpc>
                <a:spcPct val="120000"/>
              </a:lnSpc>
            </a:pPr>
            <a:r>
              <a:rPr lang="en-US" sz="1400" noProof="1" i="1">
                <a:solidFill>
                  <a:srgbClr val="55637A"/>
                </a:solidFill>
                <a:latin typeface="Bookman Old Style"/>
                <a:ea typeface="Bookman Old Style"/>
              </a:rPr>
              <a:t>An AI chatbot built only on Comet's verified facts.</a:t>
            </a:r>
            <a:endParaRPr lang="en-US" sz="1400" noProof="1"/>
          </a:p>
        </p:txBody>
      </p:sp>
      <p:sp>
        <p:nvSpPr>
          <p:cNvPr id="5" name="Shape 3"/>
          <p:cNvSpPr/>
          <p:nvPr/>
        </p:nvSpPr>
        <p:spPr>
          <a:xfrm>
            <a:off x="759460" y="2002790"/>
            <a:ext cx="3328670" cy="1883410"/>
          </a:xfrm>
          <a:prstGeom prst="roundRect">
            <a:avLst>
              <a:gd name="adj" fmla="val 2913"/>
            </a:avLst>
          </a:prstGeom>
          <a:solidFill>
            <a:srgbClr val="FCF5F5"/>
          </a:solidFill>
          <a:ln w="12700">
            <a:solidFill>
              <a:srgbClr val="ECCACA"/>
            </a:solidFill>
          </a:ln>
        </p:spPr>
      </p:sp>
      <p:sp>
        <p:nvSpPr>
          <p:cNvPr id="6" name="Shape 4"/>
          <p:cNvSpPr/>
          <p:nvPr/>
        </p:nvSpPr>
        <p:spPr>
          <a:xfrm>
            <a:off x="1042670" y="2258060"/>
            <a:ext cx="530860" cy="530860"/>
          </a:xfrm>
          <a:prstGeom prst="ellipse">
            <a:avLst/>
          </a:prstGeom>
          <a:solidFill>
            <a:srgbClr val="C9232A"/>
          </a:solidFill>
          <a:ln>
            <a:noFill/>
          </a:ln>
        </p:spPr>
      </p:sp>
      <p:sp>
        <p:nvSpPr>
          <p:cNvPr id="7" name="Text 5"/>
          <p:cNvSpPr txBox="1"/>
          <p:nvPr/>
        </p:nvSpPr>
        <p:spPr>
          <a:xfrm>
            <a:off x="1042670" y="2258060"/>
            <a:ext cx="530860" cy="5308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 marL="0">
              <a:lnSpc>
                <a:spcPct val="120000"/>
              </a:lnSpc>
            </a:pPr>
            <a:r>
              <a:rPr lang="en-US" sz="1800" noProof="1" b="1">
                <a:solidFill>
                  <a:srgbClr val="F3F6FB"/>
                </a:solidFill>
                <a:latin typeface="Calibri"/>
                <a:ea typeface="Calibri"/>
              </a:rPr>
              <a:t>1</a:t>
            </a:r>
            <a:endParaRPr lang="en-US" sz="1800" noProof="1"/>
          </a:p>
        </p:txBody>
      </p:sp>
      <p:sp>
        <p:nvSpPr>
          <p:cNvPr id="8" name="Text 6"/>
          <p:cNvSpPr txBox="1"/>
          <p:nvPr/>
        </p:nvSpPr>
        <p:spPr>
          <a:xfrm>
            <a:off x="1042670" y="2871470"/>
            <a:ext cx="278003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 marL="0">
              <a:lnSpc>
                <a:spcPct val="105000"/>
              </a:lnSpc>
            </a:pPr>
            <a:r>
              <a:rPr lang="en-US" sz="1500" noProof="1" b="1">
                <a:solidFill>
                  <a:srgbClr val="0B1E3D"/>
                </a:solidFill>
                <a:latin typeface="Bookman Old Style"/>
                <a:ea typeface="Bookman Old Style"/>
              </a:rPr>
              <a:t>Evidence-Grounded Answers</a:t>
            </a:r>
            <a:endParaRPr lang="en-US" sz="1500" noProof="1"/>
          </a:p>
        </p:txBody>
      </p:sp>
      <p:sp>
        <p:nvSpPr>
          <p:cNvPr id="9" name="Text 7"/>
          <p:cNvSpPr txBox="1"/>
          <p:nvPr/>
        </p:nvSpPr>
        <p:spPr>
          <a:xfrm>
            <a:off x="1042670" y="3383280"/>
            <a:ext cx="2780030" cy="4394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 marL="0">
              <a:lnSpc>
                <a:spcPct val="115000"/>
              </a:lnSpc>
            </a:pPr>
            <a:r>
              <a:rPr lang="en-US" sz="1200" noProof="1">
                <a:solidFill>
                  <a:srgbClr val="55637A"/>
                </a:solidFill>
                <a:latin typeface="Calibri"/>
                <a:ea typeface="Calibri"/>
              </a:rPr>
              <a:t>Every claim cites an Evidence ID and a real, public source.</a:t>
            </a:r>
            <a:endParaRPr lang="en-US" sz="1200" noProof="1"/>
          </a:p>
        </p:txBody>
      </p:sp>
      <p:sp>
        <p:nvSpPr>
          <p:cNvPr id="10" name="Shape 8"/>
          <p:cNvSpPr/>
          <p:nvPr/>
        </p:nvSpPr>
        <p:spPr>
          <a:xfrm>
            <a:off x="4243070" y="2002790"/>
            <a:ext cx="3328670" cy="1883410"/>
          </a:xfrm>
          <a:prstGeom prst="roundRect">
            <a:avLst>
              <a:gd name="adj" fmla="val 2913"/>
            </a:avLst>
          </a:prstGeom>
          <a:solidFill>
            <a:srgbClr val="FCF5F5"/>
          </a:solidFill>
          <a:ln w="12700">
            <a:solidFill>
              <a:srgbClr val="ECCACA"/>
            </a:solidFill>
          </a:ln>
        </p:spPr>
      </p:sp>
      <p:sp>
        <p:nvSpPr>
          <p:cNvPr id="11" name="Shape 9"/>
          <p:cNvSpPr/>
          <p:nvPr/>
        </p:nvSpPr>
        <p:spPr>
          <a:xfrm>
            <a:off x="4526280" y="2258060"/>
            <a:ext cx="530860" cy="530860"/>
          </a:xfrm>
          <a:prstGeom prst="ellipse">
            <a:avLst/>
          </a:prstGeom>
          <a:solidFill>
            <a:srgbClr val="C9232A"/>
          </a:solidFill>
          <a:ln>
            <a:noFill/>
          </a:ln>
        </p:spPr>
      </p:sp>
      <p:sp>
        <p:nvSpPr>
          <p:cNvPr id="12" name="Text 10"/>
          <p:cNvSpPr txBox="1"/>
          <p:nvPr/>
        </p:nvSpPr>
        <p:spPr>
          <a:xfrm>
            <a:off x="4526280" y="2258060"/>
            <a:ext cx="530860" cy="5308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 marL="0">
              <a:lnSpc>
                <a:spcPct val="120000"/>
              </a:lnSpc>
            </a:pPr>
            <a:r>
              <a:rPr lang="en-US" sz="1800" noProof="1" b="1">
                <a:solidFill>
                  <a:srgbClr val="F3F6FB"/>
                </a:solidFill>
                <a:latin typeface="Calibri"/>
                <a:ea typeface="Calibri"/>
              </a:rPr>
              <a:t>2</a:t>
            </a:r>
            <a:endParaRPr lang="en-US" sz="1800" noProof="1"/>
          </a:p>
        </p:txBody>
      </p:sp>
      <p:sp>
        <p:nvSpPr>
          <p:cNvPr id="13" name="Text 11"/>
          <p:cNvSpPr txBox="1"/>
          <p:nvPr/>
        </p:nvSpPr>
        <p:spPr>
          <a:xfrm>
            <a:off x="4526280" y="2871470"/>
            <a:ext cx="278003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 marL="0">
              <a:lnSpc>
                <a:spcPct val="105000"/>
              </a:lnSpc>
            </a:pPr>
            <a:r>
              <a:rPr lang="en-US" sz="1500" noProof="1" b="1">
                <a:solidFill>
                  <a:srgbClr val="0B1E3D"/>
                </a:solidFill>
                <a:latin typeface="Bookman Old Style"/>
                <a:ea typeface="Bookman Old Style"/>
              </a:rPr>
              <a:t>Competitor Benchmarking</a:t>
            </a:r>
            <a:endParaRPr lang="en-US" sz="1500" noProof="1"/>
          </a:p>
        </p:txBody>
      </p:sp>
      <p:sp>
        <p:nvSpPr>
          <p:cNvPr id="14" name="Text 12"/>
          <p:cNvSpPr txBox="1"/>
          <p:nvPr/>
        </p:nvSpPr>
        <p:spPr>
          <a:xfrm>
            <a:off x="4526280" y="3383280"/>
            <a:ext cx="2780030" cy="4394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 marL="0">
              <a:lnSpc>
                <a:spcPct val="115000"/>
              </a:lnSpc>
            </a:pPr>
            <a:r>
              <a:rPr lang="en-US" sz="1200" noProof="1">
                <a:solidFill>
                  <a:srgbClr val="55637A"/>
                </a:solidFill>
                <a:latin typeface="Calibri"/>
                <a:ea typeface="Calibri"/>
              </a:rPr>
              <a:t>Compares price, product range and stores against the top 4 rivals.</a:t>
            </a:r>
            <a:endParaRPr lang="en-US" sz="1200" noProof="1"/>
          </a:p>
        </p:txBody>
      </p:sp>
      <p:sp>
        <p:nvSpPr>
          <p:cNvPr id="15" name="Shape 13"/>
          <p:cNvSpPr/>
          <p:nvPr/>
        </p:nvSpPr>
        <p:spPr>
          <a:xfrm>
            <a:off x="759460" y="4041140"/>
            <a:ext cx="3328670" cy="1883410"/>
          </a:xfrm>
          <a:prstGeom prst="roundRect">
            <a:avLst>
              <a:gd name="adj" fmla="val 2913"/>
            </a:avLst>
          </a:prstGeom>
          <a:solidFill>
            <a:srgbClr val="FCF5F5"/>
          </a:solidFill>
          <a:ln w="12700">
            <a:solidFill>
              <a:srgbClr val="ECCACA"/>
            </a:solidFill>
          </a:ln>
        </p:spPr>
      </p:sp>
      <p:sp>
        <p:nvSpPr>
          <p:cNvPr id="16" name="Shape 14"/>
          <p:cNvSpPr/>
          <p:nvPr/>
        </p:nvSpPr>
        <p:spPr>
          <a:xfrm>
            <a:off x="1042670" y="4297680"/>
            <a:ext cx="530860" cy="530860"/>
          </a:xfrm>
          <a:prstGeom prst="ellipse">
            <a:avLst/>
          </a:prstGeom>
          <a:solidFill>
            <a:srgbClr val="C9232A"/>
          </a:solidFill>
          <a:ln>
            <a:noFill/>
          </a:ln>
        </p:spPr>
      </p:sp>
      <p:sp>
        <p:nvSpPr>
          <p:cNvPr id="17" name="Text 15"/>
          <p:cNvSpPr txBox="1"/>
          <p:nvPr/>
        </p:nvSpPr>
        <p:spPr>
          <a:xfrm>
            <a:off x="1042670" y="4297680"/>
            <a:ext cx="530860" cy="5308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 marL="0">
              <a:lnSpc>
                <a:spcPct val="120000"/>
              </a:lnSpc>
            </a:pPr>
            <a:r>
              <a:rPr lang="en-US" sz="1800" noProof="1" b="1">
                <a:solidFill>
                  <a:srgbClr val="F3F6FB"/>
                </a:solidFill>
                <a:latin typeface="Calibri"/>
                <a:ea typeface="Calibri"/>
              </a:rPr>
              <a:t>3</a:t>
            </a:r>
            <a:endParaRPr lang="en-US" sz="1800" noProof="1"/>
          </a:p>
        </p:txBody>
      </p:sp>
      <p:sp>
        <p:nvSpPr>
          <p:cNvPr id="18" name="Text 16"/>
          <p:cNvSpPr txBox="1"/>
          <p:nvPr/>
        </p:nvSpPr>
        <p:spPr>
          <a:xfrm>
            <a:off x="1042670" y="4909820"/>
            <a:ext cx="278003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 marL="0">
              <a:lnSpc>
                <a:spcPct val="105000"/>
              </a:lnSpc>
            </a:pPr>
            <a:r>
              <a:rPr lang="en-US" sz="1500" noProof="1" b="1">
                <a:solidFill>
                  <a:srgbClr val="0B1E3D"/>
                </a:solidFill>
                <a:latin typeface="Bookman Old Style"/>
                <a:ea typeface="Bookman Old Style"/>
              </a:rPr>
              <a:t>Hypothesis Testing</a:t>
            </a:r>
            <a:endParaRPr lang="en-US" sz="1500" noProof="1"/>
          </a:p>
        </p:txBody>
      </p:sp>
      <p:sp>
        <p:nvSpPr>
          <p:cNvPr id="19" name="Text 17"/>
          <p:cNvSpPr txBox="1"/>
          <p:nvPr/>
        </p:nvSpPr>
        <p:spPr>
          <a:xfrm>
            <a:off x="1042670" y="5422900"/>
            <a:ext cx="2780030" cy="4394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 marL="0">
              <a:lnSpc>
                <a:spcPct val="115000"/>
              </a:lnSpc>
            </a:pPr>
            <a:r>
              <a:rPr lang="en-US" sz="1200" noProof="1">
                <a:solidFill>
                  <a:srgbClr val="55637A"/>
                </a:solidFill>
                <a:latin typeface="Calibri"/>
                <a:ea typeface="Calibri"/>
              </a:rPr>
              <a:t>Weighs awareness, price and range side by side.</a:t>
            </a:r>
            <a:endParaRPr lang="en-US" sz="1200" noProof="1"/>
          </a:p>
        </p:txBody>
      </p:sp>
      <p:sp>
        <p:nvSpPr>
          <p:cNvPr id="20" name="Shape 18"/>
          <p:cNvSpPr/>
          <p:nvPr/>
        </p:nvSpPr>
        <p:spPr>
          <a:xfrm>
            <a:off x="4243070" y="4041140"/>
            <a:ext cx="3328670" cy="1883410"/>
          </a:xfrm>
          <a:prstGeom prst="roundRect">
            <a:avLst>
              <a:gd name="adj" fmla="val 2913"/>
            </a:avLst>
          </a:prstGeom>
          <a:solidFill>
            <a:srgbClr val="FCF5F5"/>
          </a:solidFill>
          <a:ln w="12700">
            <a:solidFill>
              <a:srgbClr val="ECCACA"/>
            </a:solidFill>
          </a:ln>
        </p:spPr>
      </p:sp>
      <p:sp>
        <p:nvSpPr>
          <p:cNvPr id="21" name="Shape 19"/>
          <p:cNvSpPr/>
          <p:nvPr/>
        </p:nvSpPr>
        <p:spPr>
          <a:xfrm>
            <a:off x="4526280" y="4297680"/>
            <a:ext cx="530860" cy="530860"/>
          </a:xfrm>
          <a:prstGeom prst="ellipse">
            <a:avLst/>
          </a:prstGeom>
          <a:solidFill>
            <a:srgbClr val="C9232A"/>
          </a:solidFill>
          <a:ln>
            <a:noFill/>
          </a:ln>
        </p:spPr>
      </p:sp>
      <p:sp>
        <p:nvSpPr>
          <p:cNvPr id="22" name="Text 20"/>
          <p:cNvSpPr txBox="1"/>
          <p:nvPr/>
        </p:nvSpPr>
        <p:spPr>
          <a:xfrm>
            <a:off x="4526280" y="4297680"/>
            <a:ext cx="530860" cy="5308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 marL="0">
              <a:lnSpc>
                <a:spcPct val="120000"/>
              </a:lnSpc>
            </a:pPr>
            <a:r>
              <a:rPr lang="en-US" sz="1800" noProof="1" b="1">
                <a:solidFill>
                  <a:srgbClr val="F3F6FB"/>
                </a:solidFill>
                <a:latin typeface="Calibri"/>
                <a:ea typeface="Calibri"/>
              </a:rPr>
              <a:t>4</a:t>
            </a:r>
            <a:endParaRPr lang="en-US" sz="1800" noProof="1"/>
          </a:p>
        </p:txBody>
      </p:sp>
      <p:sp>
        <p:nvSpPr>
          <p:cNvPr id="23" name="Text 21"/>
          <p:cNvSpPr txBox="1"/>
          <p:nvPr/>
        </p:nvSpPr>
        <p:spPr>
          <a:xfrm>
            <a:off x="4526280" y="4909820"/>
            <a:ext cx="278003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 marL="0">
              <a:lnSpc>
                <a:spcPct val="105000"/>
              </a:lnSpc>
            </a:pPr>
            <a:r>
              <a:rPr lang="en-US" sz="1500" noProof="1" b="1">
                <a:solidFill>
                  <a:srgbClr val="0B1E3D"/>
                </a:solidFill>
                <a:latin typeface="Bookman Old Style"/>
                <a:ea typeface="Bookman Old Style"/>
              </a:rPr>
              <a:t>Evidence-Gap Flagging</a:t>
            </a:r>
            <a:endParaRPr lang="en-US" sz="1500" noProof="1"/>
          </a:p>
        </p:txBody>
      </p:sp>
      <p:sp>
        <p:nvSpPr>
          <p:cNvPr id="24" name="Text 22"/>
          <p:cNvSpPr txBox="1"/>
          <p:nvPr/>
        </p:nvSpPr>
        <p:spPr>
          <a:xfrm>
            <a:off x="4526280" y="5422900"/>
            <a:ext cx="2780030" cy="4394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 marL="0">
              <a:lnSpc>
                <a:spcPct val="115000"/>
              </a:lnSpc>
            </a:pPr>
            <a:r>
              <a:rPr lang="en-US" sz="1200" noProof="1">
                <a:solidFill>
                  <a:srgbClr val="55637A"/>
                </a:solidFill>
                <a:latin typeface="Calibri"/>
                <a:ea typeface="Calibri"/>
              </a:rPr>
              <a:t>Tells management exactly what isn't known yet.</a:t>
            </a:r>
            <a:endParaRPr lang="en-US" sz="1200" noProof="1"/>
          </a:p>
        </p:txBody>
      </p:sp>
      <p:sp>
        <p:nvSpPr>
          <p:cNvPr id="25" name="Shape 23"/>
          <p:cNvSpPr/>
          <p:nvPr/>
        </p:nvSpPr>
        <p:spPr>
          <a:xfrm>
            <a:off x="7900670" y="2002790"/>
            <a:ext cx="3529330" cy="3914140"/>
          </a:xfrm>
          <a:prstGeom prst="roundRect">
            <a:avLst>
              <a:gd name="adj" fmla="val 1554"/>
            </a:avLst>
          </a:prstGeom>
          <a:solidFill>
            <a:srgbClr val="2B0D10"/>
          </a:solidFill>
          <a:ln>
            <a:noFill/>
          </a:ln>
        </p:spPr>
      </p:sp>
      <p:sp>
        <p:nvSpPr>
          <p:cNvPr id="26" name="Shape 24"/>
          <p:cNvSpPr/>
          <p:nvPr/>
        </p:nvSpPr>
        <p:spPr>
          <a:xfrm>
            <a:off x="8257540" y="2359660"/>
            <a:ext cx="585470" cy="585470"/>
          </a:xfrm>
          <a:prstGeom prst="ellipse">
            <a:avLst/>
          </a:prstGeom>
          <a:solidFill>
            <a:srgbClr val="C9232A"/>
          </a:solidFill>
          <a:ln>
            <a:noFill/>
          </a:ln>
        </p:spPr>
      </p:sp>
      <p:sp>
        <p:nvSpPr>
          <p:cNvPr id="27" name="Text 25"/>
          <p:cNvSpPr txBox="1"/>
          <p:nvPr/>
        </p:nvSpPr>
        <p:spPr>
          <a:xfrm>
            <a:off x="8257540" y="2286000"/>
            <a:ext cx="585470" cy="58547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 marL="0">
              <a:lnSpc>
                <a:spcPct val="120000"/>
              </a:lnSpc>
            </a:pPr>
            <a:r>
              <a:rPr lang="en-US" sz="3400" noProof="1" b="1">
                <a:solidFill>
                  <a:srgbClr val="2B0D10"/>
                </a:solidFill>
                <a:latin typeface="Bookman Old Style"/>
                <a:ea typeface="Bookman Old Style"/>
              </a:rPr>
              <a:t>"</a:t>
            </a:r>
            <a:endParaRPr lang="en-US" sz="3400" noProof="1"/>
          </a:p>
        </p:txBody>
      </p:sp>
      <p:sp>
        <p:nvSpPr>
          <p:cNvPr id="28" name="Text 26"/>
          <p:cNvSpPr txBox="1"/>
          <p:nvPr/>
        </p:nvSpPr>
        <p:spPr>
          <a:xfrm>
            <a:off x="9015730" y="2514600"/>
            <a:ext cx="2286000" cy="28321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 marL="0">
              <a:lnSpc>
                <a:spcPct val="120000"/>
              </a:lnSpc>
            </a:pPr>
            <a:r>
              <a:rPr lang="en-US" sz="1200" noProof="1" b="1" spc="150" kern="0">
                <a:solidFill>
                  <a:srgbClr val="F2787F"/>
                </a:solidFill>
                <a:latin typeface="Calibri"/>
                <a:ea typeface="Calibri"/>
              </a:rPr>
              <a:t>IN ONE LINE</a:t>
            </a:r>
            <a:endParaRPr lang="en-US" sz="1200" noProof="1"/>
          </a:p>
        </p:txBody>
      </p:sp>
      <p:sp>
        <p:nvSpPr>
          <p:cNvPr id="29" name="Text 27"/>
          <p:cNvSpPr txBox="1"/>
          <p:nvPr/>
        </p:nvSpPr>
        <p:spPr>
          <a:xfrm>
            <a:off x="8257540" y="3200400"/>
            <a:ext cx="2999740" cy="17373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 marL="0">
              <a:lnSpc>
                <a:spcPct val="130000"/>
              </a:lnSpc>
            </a:pPr>
            <a:r>
              <a:rPr lang="en-US" sz="1300" noProof="1" i="1">
                <a:solidFill>
                  <a:srgbClr val="F7E3E3"/>
                </a:solidFill>
                <a:latin typeface="Bookman Old Style"/>
                <a:ea typeface="Bookman Old Style"/>
              </a:rPr>
              <a:t>“The Advisor turns our evidence on awareness, price and range into one clear answer: what to focus on, and why.”</a:t>
            </a:r>
            <a:endParaRPr lang="en-US" sz="1300" noProof="1"/>
          </a:p>
        </p:txBody>
      </p:sp>
      <p:cxnSp>
        <p:nvCxnSpPr>
          <p:cNvPr id="30" name="Shape 28"/>
          <p:cNvCxnSpPr/>
          <p:nvPr/>
        </p:nvCxnSpPr>
        <p:spPr>
          <a:xfrm>
            <a:off x="8257540" y="5057140"/>
            <a:ext cx="2816860" cy="12700"/>
          </a:xfrm>
          <a:prstGeom prst="straightConnector1">
            <a:avLst/>
          </a:prstGeom>
          <a:ln w="12700">
            <a:solidFill>
              <a:srgbClr val="45161B"/>
            </a:solidFill>
          </a:ln>
        </p:spPr>
      </p:cxnSp>
      <p:sp>
        <p:nvSpPr>
          <p:cNvPr id="31" name="Text 29"/>
          <p:cNvSpPr txBox="1"/>
          <p:nvPr/>
        </p:nvSpPr>
        <p:spPr>
          <a:xfrm>
            <a:off x="8257540" y="5203190"/>
            <a:ext cx="2999740" cy="5943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 marL="0">
              <a:lnSpc>
                <a:spcPct val="120000"/>
              </a:lnSpc>
            </a:pPr>
            <a:r>
              <a:rPr lang="en-US" sz="1200" noProof="1" b="1" i="1">
                <a:solidFill>
                  <a:srgbClr val="F7E3E3"/>
                </a:solidFill>
                <a:latin typeface="Calibri"/>
                <a:ea typeface="Calibri"/>
              </a:rPr>
              <a:t>It doesn't just react — it explains why, with evidence.</a:t>
            </a:r>
            <a:endParaRPr lang="en-US" sz="1200" noProof="1"/>
          </a:p>
        </p:txBody>
      </p:sp>
      <p:sp>
        <p:nvSpPr>
          <p:cNvPr id="32" name="Text 30"/>
          <p:cNvSpPr txBox="1"/>
          <p:nvPr/>
        </p:nvSpPr>
        <p:spPr>
          <a:xfrm>
            <a:off x="759460" y="6501130"/>
            <a:ext cx="5486400" cy="17399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 marL="0">
              <a:lnSpc>
                <a:spcPct val="120000"/>
              </a:lnSpc>
            </a:pPr>
            <a:r>
              <a:rPr lang="en-US" sz="950" noProof="1">
                <a:solidFill>
                  <a:srgbClr val="55637A"/>
                </a:solidFill>
                <a:latin typeface="Calibri"/>
                <a:ea typeface="Calibri"/>
              </a:rPr>
              <a:t>Capstone WIP  ·  Foundations of AI in Business  ·  Learning Team 04</a:t>
            </a:r>
            <a:endParaRPr lang="en-US" sz="950" noProof="1"/>
          </a:p>
        </p:txBody>
      </p:sp>
      <p:sp>
        <p:nvSpPr>
          <p:cNvPr id="33" name="Text 31"/>
          <p:cNvSpPr txBox="1"/>
          <p:nvPr/>
        </p:nvSpPr>
        <p:spPr>
          <a:xfrm>
            <a:off x="11046460" y="6501130"/>
            <a:ext cx="383540" cy="17399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r" marL="0">
              <a:lnSpc>
                <a:spcPct val="120000"/>
              </a:lnSpc>
            </a:pPr>
            <a:r>
              <a:rPr lang="en-US" sz="950" noProof="1">
                <a:solidFill>
                  <a:srgbClr val="55637A"/>
                </a:solidFill>
                <a:latin typeface="Calibri"/>
                <a:ea typeface="Calibri"/>
              </a:rPr>
              <a:t>7</a:t>
            </a:r>
            <a:endParaRPr lang="en-US" sz="950" noProof="1"/>
          </a:p>
        </p:txBody>
      </p:sp>
      <p:pic>
        <p:nvPicPr>
          <p:cNvPr id="34" name="ShoePhoto"/>
          <p:cNvPicPr/>
          <p:nvPr/>
        </p:nvPicPr>
        <p:blipFill>
          <a:blip r:embed="rId2"/>
          <a:srcRect t="104" b="104"/>
          <a:stretch>
            <a:fillRect/>
          </a:stretch>
        </p:blipFill>
        <p:spPr>
          <a:xfrm>
            <a:off x="8788400" y="304800"/>
            <a:ext cx="1879600" cy="1219200"/>
          </a:xfrm>
          <a:prstGeom prst="roundRect">
            <a:avLst>
              <a:gd name="adj" fmla="val 8000"/>
            </a:avLst>
          </a:prstGeom>
          <a:ln>
            <a:noFill/>
          </a:ln>
          <a:effectLst>
            <a:outerShdw blurRad="101600" dist="38100" dir="5400000" sx="100000" sy="100000" kx="0" ky="0" algn="bl" rotWithShape="0">
              <a:srgbClr val="000000">
                <a:alpha val="14902"/>
              </a:srgbClr>
            </a:outerShdw>
          </a:effectLst>
        </p:spPr>
      </p:pic>
      <p:sp>
        <p:nvSpPr>
          <p:cNvPr id="35" name="ShoeLabelBg"/>
          <p:cNvSpPr/>
          <p:nvPr/>
        </p:nvSpPr>
        <p:spPr>
          <a:xfrm>
            <a:off x="8788400" y="1346200"/>
            <a:ext cx="1879600" cy="177800"/>
          </a:xfrm>
          <a:prstGeom prst="roundRect">
            <a:avLst>
              <a:gd name="adj" fmla="val 30000"/>
            </a:avLst>
          </a:prstGeom>
          <a:solidFill>
            <a:srgbClr val="8F161C">
              <a:alpha val="90196"/>
            </a:srgbClr>
          </a:solidFill>
          <a:ln>
            <a:noFill/>
          </a:ln>
        </p:spPr>
      </p:sp>
      <p:sp>
        <p:nvSpPr>
          <p:cNvPr id="36" name="ShoeLabel"/>
          <p:cNvSpPr txBox="1"/>
          <p:nvPr/>
        </p:nvSpPr>
        <p:spPr>
          <a:xfrm>
            <a:off x="8788400" y="1346200"/>
            <a:ext cx="18796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750" noProof="1" b="1" spc="100" kern="0">
                <a:solidFill>
                  <a:srgbClr val="FFFFFF"/>
                </a:solidFill>
                <a:latin typeface="MiSans"/>
                <a:ea typeface="MiSans"/>
              </a:rPr>
              <a:t>UNO × COMET</a:t>
            </a:r>
            <a:endParaRPr lang="en-US" sz="750" noProof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ECEF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59460" y="51181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 marL="0">
              <a:lnSpc>
                <a:spcPct val="120000"/>
              </a:lnSpc>
            </a:pPr>
            <a:r>
              <a:rPr lang="en-US" sz="1300" noProof="1" b="1" spc="200" kern="0">
                <a:solidFill>
                  <a:srgbClr val="3548B0"/>
                </a:solidFill>
                <a:latin typeface="Calibri"/>
                <a:ea typeface="Calibri"/>
              </a:rPr>
              <a:t>OUR AI SOLUTION</a:t>
            </a:r>
            <a:endParaRPr lang="en-US" sz="1300" noProof="1"/>
          </a:p>
        </p:txBody>
      </p:sp>
      <p:sp>
        <p:nvSpPr>
          <p:cNvPr id="3" name="Text 1"/>
          <p:cNvSpPr txBox="1"/>
          <p:nvPr/>
        </p:nvSpPr>
        <p:spPr>
          <a:xfrm>
            <a:off x="740410" y="786130"/>
            <a:ext cx="7315200" cy="5308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 marL="0">
              <a:lnSpc>
                <a:spcPct val="120000"/>
              </a:lnSpc>
            </a:pPr>
            <a:r>
              <a:rPr lang="en-US" sz="3200" noProof="1" b="1">
                <a:solidFill>
                  <a:srgbClr val="0B1E3D"/>
                </a:solidFill>
                <a:latin typeface="Bookman Old Style"/>
                <a:ea typeface="Bookman Old Style"/>
              </a:rPr>
              <a:t>See It In Action</a:t>
            </a:r>
            <a:endParaRPr lang="en-US" sz="3200" noProof="1"/>
          </a:p>
        </p:txBody>
      </p:sp>
      <p:sp>
        <p:nvSpPr>
          <p:cNvPr id="4" name="Text 2"/>
          <p:cNvSpPr txBox="1"/>
          <p:nvPr/>
        </p:nvSpPr>
        <p:spPr>
          <a:xfrm>
            <a:off x="759460" y="1371600"/>
            <a:ext cx="10058400" cy="2565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 marL="0">
              <a:lnSpc>
                <a:spcPct val="120000"/>
              </a:lnSpc>
            </a:pPr>
            <a:r>
              <a:rPr lang="en-US" sz="1350" noProof="1" i="1">
                <a:solidFill>
                  <a:srgbClr val="55637A"/>
                </a:solidFill>
                <a:latin typeface="Bookman Old Style"/>
                <a:ea typeface="Bookman Old Style"/>
              </a:rPr>
              <a:t>Management asks a question. The Advisor answers using only verified evidence — and flags what's still open.</a:t>
            </a:r>
            <a:endParaRPr lang="en-US" sz="1350" noProof="1"/>
          </a:p>
        </p:txBody>
      </p:sp>
      <p:sp>
        <p:nvSpPr>
          <p:cNvPr id="5" name="Shape 3"/>
          <p:cNvSpPr/>
          <p:nvPr/>
        </p:nvSpPr>
        <p:spPr>
          <a:xfrm>
            <a:off x="759460" y="1800860"/>
            <a:ext cx="6657340" cy="4188460"/>
          </a:xfrm>
          <a:prstGeom prst="roundRect">
            <a:avLst>
              <a:gd name="adj" fmla="val 1310"/>
            </a:avLst>
          </a:prstGeom>
          <a:solidFill>
            <a:srgbClr val="F5F7FC"/>
          </a:solidFill>
          <a:ln w="12700">
            <a:solidFill>
              <a:srgbClr val="D2DAEF"/>
            </a:solidFill>
          </a:ln>
        </p:spPr>
      </p:sp>
      <p:sp>
        <p:nvSpPr>
          <p:cNvPr id="6" name="Text 4"/>
          <p:cNvSpPr txBox="1"/>
          <p:nvPr/>
        </p:nvSpPr>
        <p:spPr>
          <a:xfrm>
            <a:off x="1115060" y="2011680"/>
            <a:ext cx="1271270" cy="2006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 marL="0">
              <a:lnSpc>
                <a:spcPct val="120000"/>
              </a:lnSpc>
            </a:pPr>
            <a:r>
              <a:rPr lang="en-US" sz="1000" noProof="1" b="1" spc="100" kern="0">
                <a:solidFill>
                  <a:srgbClr val="55637A"/>
                </a:solidFill>
                <a:latin typeface="Calibri"/>
                <a:ea typeface="Calibri"/>
              </a:rPr>
              <a:t>YOU</a:t>
            </a:r>
            <a:endParaRPr lang="en-US" sz="1000" noProof="1"/>
          </a:p>
        </p:txBody>
      </p:sp>
      <p:sp>
        <p:nvSpPr>
          <p:cNvPr id="7" name="Shape 5"/>
          <p:cNvSpPr/>
          <p:nvPr/>
        </p:nvSpPr>
        <p:spPr>
          <a:xfrm>
            <a:off x="1115060" y="2249170"/>
            <a:ext cx="5120640" cy="56642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D2DAEF"/>
            </a:solidFill>
          </a:ln>
        </p:spPr>
      </p:sp>
      <p:sp>
        <p:nvSpPr>
          <p:cNvPr id="8" name="Text 6"/>
          <p:cNvSpPr txBox="1"/>
          <p:nvPr/>
        </p:nvSpPr>
        <p:spPr>
          <a:xfrm>
            <a:off x="1343660" y="2249170"/>
            <a:ext cx="4663440" cy="5664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 marL="0">
              <a:lnSpc>
                <a:spcPct val="115000"/>
              </a:lnSpc>
            </a:pPr>
            <a:r>
              <a:rPr lang="en-US" sz="1250" noProof="1">
                <a:solidFill>
                  <a:srgbClr val="0B1E3D"/>
                </a:solidFill>
                <a:latin typeface="Calibri"/>
                <a:ea typeface="Calibri"/>
              </a:rPr>
              <a:t>We're raising prices 8% next quarter. Can customers absorb that?</a:t>
            </a:r>
            <a:endParaRPr lang="en-US" sz="1250" noProof="1"/>
          </a:p>
        </p:txBody>
      </p:sp>
      <p:sp>
        <p:nvSpPr>
          <p:cNvPr id="9" name="Text 7"/>
          <p:cNvSpPr txBox="1"/>
          <p:nvPr/>
        </p:nvSpPr>
        <p:spPr>
          <a:xfrm>
            <a:off x="1471930" y="2962910"/>
            <a:ext cx="1902460" cy="2006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 marL="0">
              <a:lnSpc>
                <a:spcPct val="120000"/>
              </a:lnSpc>
            </a:pPr>
            <a:r>
              <a:rPr lang="en-US" sz="1000" noProof="1" b="1" spc="100" kern="0">
                <a:solidFill>
                  <a:srgbClr val="3548B0"/>
                </a:solidFill>
                <a:latin typeface="Calibri"/>
                <a:ea typeface="Calibri"/>
              </a:rPr>
              <a:t>ADVISOR</a:t>
            </a:r>
            <a:endParaRPr lang="en-US" sz="1000" noProof="1"/>
          </a:p>
        </p:txBody>
      </p:sp>
      <p:sp>
        <p:nvSpPr>
          <p:cNvPr id="10" name="Shape 8"/>
          <p:cNvSpPr/>
          <p:nvPr/>
        </p:nvSpPr>
        <p:spPr>
          <a:xfrm>
            <a:off x="1471930" y="3200400"/>
            <a:ext cx="5394960" cy="777240"/>
          </a:xfrm>
          <a:prstGeom prst="roundRect">
            <a:avLst>
              <a:gd name="adj" fmla="val 7059"/>
            </a:avLst>
          </a:prstGeom>
          <a:solidFill>
            <a:srgbClr val="0D2347"/>
          </a:solidFill>
          <a:ln>
            <a:noFill/>
          </a:ln>
        </p:spPr>
      </p:sp>
      <p:sp>
        <p:nvSpPr>
          <p:cNvPr id="11" name="Text 9"/>
          <p:cNvSpPr txBox="1"/>
          <p:nvPr/>
        </p:nvSpPr>
        <p:spPr>
          <a:xfrm>
            <a:off x="1700530" y="3200400"/>
            <a:ext cx="4974590" cy="7772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 marL="0">
              <a:lnSpc>
                <a:spcPct val="115000"/>
              </a:lnSpc>
            </a:pPr>
            <a:r>
              <a:rPr lang="en-US" sz="1250" noProof="1">
                <a:solidFill>
                  <a:srgbClr val="E8ECF7"/>
                </a:solidFill>
                <a:latin typeface="Calibri"/>
                <a:ea typeface="Calibri"/>
              </a:rPr>
              <a:t>No study has tested what customers will pay in this price range (E04). I can't confirm if they'll accept the increase.</a:t>
            </a:r>
            <a:endParaRPr lang="en-US" sz="1250" noProof="1"/>
          </a:p>
        </p:txBody>
      </p:sp>
      <p:sp>
        <p:nvSpPr>
          <p:cNvPr id="12" name="Text 10"/>
          <p:cNvSpPr txBox="1"/>
          <p:nvPr/>
        </p:nvSpPr>
        <p:spPr>
          <a:xfrm>
            <a:off x="1115060" y="4114800"/>
            <a:ext cx="1271270" cy="2006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 marL="0">
              <a:lnSpc>
                <a:spcPct val="120000"/>
              </a:lnSpc>
            </a:pPr>
            <a:r>
              <a:rPr lang="en-US" sz="1000" noProof="1" b="1" spc="100" kern="0">
                <a:solidFill>
                  <a:srgbClr val="55637A"/>
                </a:solidFill>
                <a:latin typeface="Calibri"/>
                <a:ea typeface="Calibri"/>
              </a:rPr>
              <a:t>YOU</a:t>
            </a:r>
            <a:endParaRPr lang="en-US" sz="1000" noProof="1"/>
          </a:p>
        </p:txBody>
      </p:sp>
      <p:sp>
        <p:nvSpPr>
          <p:cNvPr id="13" name="Shape 11"/>
          <p:cNvSpPr/>
          <p:nvPr/>
        </p:nvSpPr>
        <p:spPr>
          <a:xfrm>
            <a:off x="1115060" y="4352290"/>
            <a:ext cx="45720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2DAEF"/>
            </a:solidFill>
          </a:ln>
        </p:spPr>
      </p:sp>
      <p:sp>
        <p:nvSpPr>
          <p:cNvPr id="14" name="Text 12"/>
          <p:cNvSpPr txBox="1"/>
          <p:nvPr/>
        </p:nvSpPr>
        <p:spPr>
          <a:xfrm>
            <a:off x="1343660" y="4352290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 marL="0">
              <a:lnSpc>
                <a:spcPct val="120000"/>
              </a:lnSpc>
            </a:pPr>
            <a:r>
              <a:rPr lang="en-US" sz="1250" noProof="1">
                <a:solidFill>
                  <a:srgbClr val="0B1E3D"/>
                </a:solidFill>
                <a:latin typeface="Calibri"/>
                <a:ea typeface="Calibri"/>
              </a:rPr>
              <a:t>What do we actually know about loyalty, then?</a:t>
            </a:r>
            <a:endParaRPr lang="en-US" sz="1250" noProof="1"/>
          </a:p>
        </p:txBody>
      </p:sp>
      <p:sp>
        <p:nvSpPr>
          <p:cNvPr id="15" name="Text 13"/>
          <p:cNvSpPr txBox="1"/>
          <p:nvPr/>
        </p:nvSpPr>
        <p:spPr>
          <a:xfrm>
            <a:off x="1471930" y="4955540"/>
            <a:ext cx="1902460" cy="2006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 marL="0">
              <a:lnSpc>
                <a:spcPct val="120000"/>
              </a:lnSpc>
            </a:pPr>
            <a:r>
              <a:rPr lang="en-US" sz="1000" noProof="1" b="1" spc="100" kern="0">
                <a:solidFill>
                  <a:srgbClr val="3548B0"/>
                </a:solidFill>
                <a:latin typeface="Calibri"/>
                <a:ea typeface="Calibri"/>
              </a:rPr>
              <a:t>ADVISOR</a:t>
            </a:r>
            <a:endParaRPr lang="en-US" sz="1000" noProof="1"/>
          </a:p>
        </p:txBody>
      </p:sp>
      <p:sp>
        <p:nvSpPr>
          <p:cNvPr id="16" name="Shape 14"/>
          <p:cNvSpPr/>
          <p:nvPr/>
        </p:nvSpPr>
        <p:spPr>
          <a:xfrm>
            <a:off x="1471930" y="5194300"/>
            <a:ext cx="5394960" cy="713740"/>
          </a:xfrm>
          <a:prstGeom prst="roundRect">
            <a:avLst>
              <a:gd name="adj" fmla="val 7692"/>
            </a:avLst>
          </a:prstGeom>
          <a:solidFill>
            <a:srgbClr val="0D2347"/>
          </a:solidFill>
          <a:ln>
            <a:noFill/>
          </a:ln>
        </p:spPr>
      </p:sp>
      <p:sp>
        <p:nvSpPr>
          <p:cNvPr id="17" name="Text 15"/>
          <p:cNvSpPr txBox="1"/>
          <p:nvPr/>
        </p:nvSpPr>
        <p:spPr>
          <a:xfrm>
            <a:off x="1700530" y="5194300"/>
            <a:ext cx="4974590" cy="7137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 marL="0">
              <a:lnSpc>
                <a:spcPct val="115000"/>
              </a:lnSpc>
            </a:pPr>
            <a:r>
              <a:rPr lang="en-US" sz="1150" noProof="1">
                <a:solidFill>
                  <a:srgbClr val="E8ECF7"/>
                </a:solidFill>
                <a:latin typeface="Calibri"/>
                <a:ea typeface="Calibri"/>
              </a:rPr>
              <a:t>Customers rate us highly (E03) and our online community is growing (E01) — but neither tells us if an 8% price rise is safe. I'd recommend a pricing study first.</a:t>
            </a:r>
            <a:endParaRPr lang="en-US" sz="1150" noProof="1"/>
          </a:p>
        </p:txBody>
      </p:sp>
      <p:sp>
        <p:nvSpPr>
          <p:cNvPr id="18" name="Shape 16"/>
          <p:cNvSpPr/>
          <p:nvPr/>
        </p:nvSpPr>
        <p:spPr>
          <a:xfrm>
            <a:off x="7717790" y="1800860"/>
            <a:ext cx="3712210" cy="4188460"/>
          </a:xfrm>
          <a:prstGeom prst="roundRect">
            <a:avLst>
              <a:gd name="adj" fmla="val 1478"/>
            </a:avLst>
          </a:prstGeom>
          <a:solidFill>
            <a:srgbClr val="0D2347"/>
          </a:solidFill>
          <a:ln>
            <a:noFill/>
          </a:ln>
        </p:spPr>
      </p:sp>
      <p:sp>
        <p:nvSpPr>
          <p:cNvPr id="19" name="Text 17"/>
          <p:cNvSpPr txBox="1"/>
          <p:nvPr/>
        </p:nvSpPr>
        <p:spPr>
          <a:xfrm>
            <a:off x="8055610" y="2057400"/>
            <a:ext cx="3045460" cy="32893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 marL="0">
              <a:lnSpc>
                <a:spcPct val="120000"/>
              </a:lnSpc>
            </a:pPr>
            <a:r>
              <a:rPr lang="en-US" sz="1700" noProof="1" b="1">
                <a:solidFill>
                  <a:srgbClr val="E8ECF7"/>
                </a:solidFill>
                <a:latin typeface="Bookman Old Style"/>
                <a:ea typeface="Bookman Old Style"/>
              </a:rPr>
              <a:t>What It Weighs Every Time</a:t>
            </a:r>
            <a:endParaRPr lang="en-US" sz="1700" noProof="1"/>
          </a:p>
        </p:txBody>
      </p:sp>
      <p:sp>
        <p:nvSpPr>
          <p:cNvPr id="20" name="Shape 18"/>
          <p:cNvSpPr/>
          <p:nvPr/>
        </p:nvSpPr>
        <p:spPr>
          <a:xfrm>
            <a:off x="8055610" y="2569210"/>
            <a:ext cx="200660" cy="200660"/>
          </a:xfrm>
          <a:prstGeom prst="ellipse">
            <a:avLst/>
          </a:prstGeom>
          <a:solidFill>
            <a:srgbClr val="3548B0"/>
          </a:solidFill>
          <a:ln>
            <a:noFill/>
          </a:ln>
        </p:spPr>
      </p:sp>
      <p:sp>
        <p:nvSpPr>
          <p:cNvPr id="21" name="Text 19"/>
          <p:cNvSpPr txBox="1"/>
          <p:nvPr/>
        </p:nvSpPr>
        <p:spPr>
          <a:xfrm>
            <a:off x="8586470" y="2468880"/>
            <a:ext cx="2669540" cy="3835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 marL="0">
              <a:lnSpc>
                <a:spcPct val="120000"/>
              </a:lnSpc>
            </a:pPr>
            <a:r>
              <a:rPr lang="en-US" sz="1350" noProof="1" b="1">
                <a:solidFill>
                  <a:srgbClr val="EEF3FA"/>
                </a:solidFill>
                <a:latin typeface="Calibri"/>
                <a:ea typeface="Calibri"/>
              </a:rPr>
              <a:t>Awareness signals</a:t>
            </a:r>
            <a:endParaRPr lang="en-US" sz="1350" noProof="1"/>
          </a:p>
        </p:txBody>
      </p:sp>
      <p:sp>
        <p:nvSpPr>
          <p:cNvPr id="22" name="Shape 20"/>
          <p:cNvSpPr/>
          <p:nvPr/>
        </p:nvSpPr>
        <p:spPr>
          <a:xfrm>
            <a:off x="8055610" y="3100070"/>
            <a:ext cx="200660" cy="200660"/>
          </a:xfrm>
          <a:prstGeom prst="ellipse">
            <a:avLst/>
          </a:prstGeom>
          <a:solidFill>
            <a:srgbClr val="3548B0"/>
          </a:solidFill>
          <a:ln>
            <a:noFill/>
          </a:ln>
        </p:spPr>
      </p:sp>
      <p:sp>
        <p:nvSpPr>
          <p:cNvPr id="23" name="Text 21"/>
          <p:cNvSpPr txBox="1"/>
          <p:nvPr/>
        </p:nvSpPr>
        <p:spPr>
          <a:xfrm>
            <a:off x="8586470" y="2999740"/>
            <a:ext cx="2669540" cy="3835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 marL="0">
              <a:lnSpc>
                <a:spcPct val="120000"/>
              </a:lnSpc>
            </a:pPr>
            <a:r>
              <a:rPr lang="en-US" sz="1350" noProof="1" b="1">
                <a:solidFill>
                  <a:srgbClr val="EEF3FA"/>
                </a:solidFill>
                <a:latin typeface="Calibri"/>
                <a:ea typeface="Calibri"/>
              </a:rPr>
              <a:t>Price sensitivity</a:t>
            </a:r>
            <a:endParaRPr lang="en-US" sz="1350" noProof="1"/>
          </a:p>
        </p:txBody>
      </p:sp>
      <p:sp>
        <p:nvSpPr>
          <p:cNvPr id="24" name="Shape 22"/>
          <p:cNvSpPr/>
          <p:nvPr/>
        </p:nvSpPr>
        <p:spPr>
          <a:xfrm>
            <a:off x="8055610" y="3629660"/>
            <a:ext cx="200660" cy="200660"/>
          </a:xfrm>
          <a:prstGeom prst="ellipse">
            <a:avLst/>
          </a:prstGeom>
          <a:solidFill>
            <a:srgbClr val="3548B0"/>
          </a:solidFill>
          <a:ln>
            <a:noFill/>
          </a:ln>
        </p:spPr>
      </p:sp>
      <p:sp>
        <p:nvSpPr>
          <p:cNvPr id="25" name="Text 23"/>
          <p:cNvSpPr txBox="1"/>
          <p:nvPr/>
        </p:nvSpPr>
        <p:spPr>
          <a:xfrm>
            <a:off x="8586470" y="3529330"/>
            <a:ext cx="2669540" cy="3835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 marL="0">
              <a:lnSpc>
                <a:spcPct val="120000"/>
              </a:lnSpc>
            </a:pPr>
            <a:r>
              <a:rPr lang="en-US" sz="1350" noProof="1" b="1">
                <a:solidFill>
                  <a:srgbClr val="EEF3FA"/>
                </a:solidFill>
                <a:latin typeface="Calibri"/>
                <a:ea typeface="Calibri"/>
              </a:rPr>
              <a:t>Product range fit</a:t>
            </a:r>
            <a:endParaRPr lang="en-US" sz="1350" noProof="1"/>
          </a:p>
        </p:txBody>
      </p:sp>
      <p:sp>
        <p:nvSpPr>
          <p:cNvPr id="26" name="Shape 24"/>
          <p:cNvSpPr/>
          <p:nvPr/>
        </p:nvSpPr>
        <p:spPr>
          <a:xfrm>
            <a:off x="8055610" y="4160520"/>
            <a:ext cx="200660" cy="200660"/>
          </a:xfrm>
          <a:prstGeom prst="ellipse">
            <a:avLst/>
          </a:prstGeom>
          <a:solidFill>
            <a:srgbClr val="3548B0"/>
          </a:solidFill>
          <a:ln>
            <a:noFill/>
          </a:ln>
        </p:spPr>
      </p:sp>
      <p:sp>
        <p:nvSpPr>
          <p:cNvPr id="27" name="Text 25"/>
          <p:cNvSpPr txBox="1"/>
          <p:nvPr/>
        </p:nvSpPr>
        <p:spPr>
          <a:xfrm>
            <a:off x="8586470" y="4060190"/>
            <a:ext cx="2669540" cy="3835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 marL="0">
              <a:lnSpc>
                <a:spcPct val="120000"/>
              </a:lnSpc>
            </a:pPr>
            <a:r>
              <a:rPr lang="en-US" sz="1350" noProof="1" b="1">
                <a:solidFill>
                  <a:srgbClr val="EEF3FA"/>
                </a:solidFill>
                <a:latin typeface="Calibri"/>
                <a:ea typeface="Calibri"/>
              </a:rPr>
              <a:t>Competitor benchmark</a:t>
            </a:r>
            <a:endParaRPr lang="en-US" sz="1350" noProof="1"/>
          </a:p>
        </p:txBody>
      </p:sp>
      <p:sp>
        <p:nvSpPr>
          <p:cNvPr id="28" name="Shape 26"/>
          <p:cNvSpPr/>
          <p:nvPr/>
        </p:nvSpPr>
        <p:spPr>
          <a:xfrm>
            <a:off x="8055610" y="4691380"/>
            <a:ext cx="200660" cy="200660"/>
          </a:xfrm>
          <a:prstGeom prst="ellipse">
            <a:avLst/>
          </a:prstGeom>
          <a:solidFill>
            <a:srgbClr val="3548B0"/>
          </a:solidFill>
          <a:ln>
            <a:noFill/>
          </a:ln>
        </p:spPr>
      </p:sp>
      <p:sp>
        <p:nvSpPr>
          <p:cNvPr id="29" name="Text 27"/>
          <p:cNvSpPr txBox="1"/>
          <p:nvPr/>
        </p:nvSpPr>
        <p:spPr>
          <a:xfrm>
            <a:off x="8586470" y="4589780"/>
            <a:ext cx="2669540" cy="3835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 marL="0">
              <a:lnSpc>
                <a:spcPct val="120000"/>
              </a:lnSpc>
            </a:pPr>
            <a:r>
              <a:rPr lang="en-US" sz="1350" noProof="1" b="1">
                <a:solidFill>
                  <a:srgbClr val="EEF3FA"/>
                </a:solidFill>
                <a:latin typeface="Calibri"/>
                <a:ea typeface="Calibri"/>
              </a:rPr>
              <a:t>Evidence confidence</a:t>
            </a:r>
            <a:endParaRPr lang="en-US" sz="1350" noProof="1"/>
          </a:p>
        </p:txBody>
      </p:sp>
      <p:cxnSp>
        <p:nvCxnSpPr>
          <p:cNvPr id="30" name="Shape 28"/>
          <p:cNvCxnSpPr/>
          <p:nvPr/>
        </p:nvCxnSpPr>
        <p:spPr>
          <a:xfrm>
            <a:off x="8055610" y="5285740"/>
            <a:ext cx="3045460" cy="12700"/>
          </a:xfrm>
          <a:prstGeom prst="straightConnector1">
            <a:avLst/>
          </a:prstGeom>
          <a:ln w="12700">
            <a:solidFill>
              <a:srgbClr val="24344F"/>
            </a:solidFill>
          </a:ln>
        </p:spPr>
      </p:cxnSp>
      <p:sp>
        <p:nvSpPr>
          <p:cNvPr id="31" name="Text 29"/>
          <p:cNvSpPr txBox="1"/>
          <p:nvPr/>
        </p:nvSpPr>
        <p:spPr>
          <a:xfrm>
            <a:off x="8055610" y="5412740"/>
            <a:ext cx="3045460" cy="5486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 marL="0">
              <a:lnSpc>
                <a:spcPct val="120000"/>
              </a:lnSpc>
            </a:pPr>
            <a:r>
              <a:rPr lang="en-US" sz="1050" noProof="1" i="1">
                <a:solidFill>
                  <a:srgbClr val="8D9AB0"/>
                </a:solidFill>
                <a:latin typeface="Calibri"/>
                <a:ea typeface="Calibri"/>
              </a:rPr>
              <a:t>Every answer points back to a verified Evidence ID or flags an open gap — not a guess.</a:t>
            </a:r>
            <a:endParaRPr lang="en-US" sz="1050" noProof="1"/>
          </a:p>
        </p:txBody>
      </p:sp>
      <p:sp>
        <p:nvSpPr>
          <p:cNvPr id="32" name="Text 30"/>
          <p:cNvSpPr txBox="1"/>
          <p:nvPr/>
        </p:nvSpPr>
        <p:spPr>
          <a:xfrm>
            <a:off x="759460" y="6501130"/>
            <a:ext cx="5486400" cy="17399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 marL="0">
              <a:lnSpc>
                <a:spcPct val="120000"/>
              </a:lnSpc>
            </a:pPr>
            <a:r>
              <a:rPr lang="en-US" sz="950" noProof="1">
                <a:solidFill>
                  <a:srgbClr val="55637A"/>
                </a:solidFill>
                <a:latin typeface="Calibri"/>
                <a:ea typeface="Calibri"/>
              </a:rPr>
              <a:t>Capstone WIP  ·  Foundations of AI in Business  ·  Learning Team 04</a:t>
            </a:r>
            <a:endParaRPr lang="en-US" sz="950" noProof="1"/>
          </a:p>
        </p:txBody>
      </p:sp>
      <p:sp>
        <p:nvSpPr>
          <p:cNvPr id="33" name="Text 31"/>
          <p:cNvSpPr txBox="1"/>
          <p:nvPr/>
        </p:nvSpPr>
        <p:spPr>
          <a:xfrm>
            <a:off x="11046460" y="6501130"/>
            <a:ext cx="383540" cy="17399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r" marL="0">
              <a:lnSpc>
                <a:spcPct val="120000"/>
              </a:lnSpc>
            </a:pPr>
            <a:r>
              <a:rPr lang="en-US" sz="950" noProof="1">
                <a:solidFill>
                  <a:srgbClr val="55637A"/>
                </a:solidFill>
                <a:latin typeface="Calibri"/>
                <a:ea typeface="Calibri"/>
              </a:rPr>
              <a:t>8</a:t>
            </a:r>
            <a:endParaRPr lang="en-US" sz="950" noProof="1"/>
          </a:p>
        </p:txBody>
      </p:sp>
      <p:pic>
        <p:nvPicPr>
          <p:cNvPr id="34" name="ShoePhoto"/>
          <p:cNvPicPr/>
          <p:nvPr/>
        </p:nvPicPr>
        <p:blipFill>
          <a:blip r:embed="rId2"/>
          <a:srcRect t="3165" b="3165"/>
          <a:stretch>
            <a:fillRect/>
          </a:stretch>
        </p:blipFill>
        <p:spPr>
          <a:xfrm>
            <a:off x="8585200" y="228600"/>
            <a:ext cx="2692400" cy="1066800"/>
          </a:xfrm>
          <a:prstGeom prst="roundRect">
            <a:avLst>
              <a:gd name="adj" fmla="val 8000"/>
            </a:avLst>
          </a:prstGeom>
          <a:ln>
            <a:noFill/>
          </a:ln>
          <a:effectLst>
            <a:outerShdw blurRad="101600" dist="38100" dir="5400000" sx="100000" sy="100000" kx="0" ky="0" algn="bl" rotWithShape="0">
              <a:srgbClr val="000000">
                <a:alpha val="14902"/>
              </a:srgbClr>
            </a:outerShdw>
          </a:effectLst>
        </p:spPr>
      </p:pic>
      <p:sp>
        <p:nvSpPr>
          <p:cNvPr id="35" name="ShoeLabelBg"/>
          <p:cNvSpPr/>
          <p:nvPr/>
        </p:nvSpPr>
        <p:spPr>
          <a:xfrm>
            <a:off x="8585200" y="1117600"/>
            <a:ext cx="2692400" cy="177800"/>
          </a:xfrm>
          <a:prstGeom prst="roundRect">
            <a:avLst>
              <a:gd name="adj" fmla="val 30000"/>
            </a:avLst>
          </a:prstGeom>
          <a:solidFill>
            <a:srgbClr val="26357F">
              <a:alpha val="90196"/>
            </a:srgbClr>
          </a:solidFill>
          <a:ln>
            <a:noFill/>
          </a:ln>
        </p:spPr>
      </p:sp>
      <p:sp>
        <p:nvSpPr>
          <p:cNvPr id="36" name="ShoeLabel"/>
          <p:cNvSpPr txBox="1"/>
          <p:nvPr/>
        </p:nvSpPr>
        <p:spPr>
          <a:xfrm>
            <a:off x="8585200" y="1117600"/>
            <a:ext cx="26924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750" noProof="1" b="1" spc="100" kern="0">
                <a:solidFill>
                  <a:srgbClr val="FFFFFF"/>
                </a:solidFill>
                <a:latin typeface="MiSans"/>
                <a:ea typeface="MiSans"/>
              </a:rPr>
              <a:t>COMET ROCKETMAN</a:t>
            </a:r>
            <a:endParaRPr lang="en-US" sz="750" noProof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49840" y="631190"/>
            <a:ext cx="1499870" cy="1499870"/>
          </a:xfrm>
          <a:prstGeom prst="ellipse">
            <a:avLst/>
          </a:prstGeom>
          <a:solidFill>
            <a:srgbClr val="1F1F1F"/>
          </a:solidFill>
          <a:ln>
            <a:noFill/>
          </a:ln>
        </p:spPr>
      </p:sp>
      <p:sp>
        <p:nvSpPr>
          <p:cNvPr id="3" name="Shape 1"/>
          <p:cNvSpPr/>
          <p:nvPr/>
        </p:nvSpPr>
        <p:spPr>
          <a:xfrm>
            <a:off x="10350500" y="831850"/>
            <a:ext cx="1097280" cy="1097280"/>
          </a:xfrm>
          <a:prstGeom prst="ellipse">
            <a:avLst/>
          </a:prstGeom>
          <a:solidFill>
            <a:srgbClr val="D4D4D4"/>
          </a:solidFill>
          <a:ln>
            <a:noFill/>
          </a:ln>
        </p:spPr>
      </p:sp>
      <p:sp>
        <p:nvSpPr>
          <p:cNvPr id="4" name="Shape 2"/>
          <p:cNvSpPr/>
          <p:nvPr/>
        </p:nvSpPr>
        <p:spPr>
          <a:xfrm>
            <a:off x="10899140" y="1355090"/>
            <a:ext cx="1499870" cy="50800"/>
          </a:xfrm>
          <a:prstGeom prst="roundRect">
            <a:avLst>
              <a:gd name="adj" fmla="val 54545"/>
            </a:avLst>
          </a:prstGeom>
          <a:solidFill>
            <a:srgbClr val="8C8C8C">
              <a:alpha val="90196"/>
            </a:srgbClr>
          </a:solidFill>
          <a:ln>
            <a:noFill/>
          </a:ln>
        </p:spPr>
      </p:sp>
      <p:sp>
        <p:nvSpPr>
          <p:cNvPr id="5" name="Shape 3"/>
          <p:cNvSpPr/>
          <p:nvPr/>
        </p:nvSpPr>
        <p:spPr>
          <a:xfrm rot="1200000">
            <a:off x="10899140" y="1355090"/>
            <a:ext cx="1499870" cy="50800"/>
          </a:xfrm>
          <a:prstGeom prst="roundRect">
            <a:avLst>
              <a:gd name="adj" fmla="val 54545"/>
            </a:avLst>
          </a:prstGeom>
          <a:solidFill>
            <a:srgbClr val="8C8C8C">
              <a:alpha val="50196"/>
            </a:srgbClr>
          </a:solidFill>
          <a:ln>
            <a:noFill/>
          </a:ln>
        </p:spPr>
      </p:sp>
      <p:sp>
        <p:nvSpPr>
          <p:cNvPr id="6" name="Shape 4"/>
          <p:cNvSpPr/>
          <p:nvPr/>
        </p:nvSpPr>
        <p:spPr>
          <a:xfrm rot="2400000">
            <a:off x="10899140" y="1355090"/>
            <a:ext cx="1499870" cy="50800"/>
          </a:xfrm>
          <a:prstGeom prst="roundRect">
            <a:avLst>
              <a:gd name="adj" fmla="val 54545"/>
            </a:avLst>
          </a:prstGeom>
          <a:solidFill>
            <a:srgbClr val="8C8C8C">
              <a:alpha val="90196"/>
            </a:srgbClr>
          </a:solidFill>
          <a:ln>
            <a:noFill/>
          </a:ln>
        </p:spPr>
      </p:sp>
      <p:sp>
        <p:nvSpPr>
          <p:cNvPr id="7" name="Shape 5"/>
          <p:cNvSpPr/>
          <p:nvPr/>
        </p:nvSpPr>
        <p:spPr>
          <a:xfrm rot="3600000">
            <a:off x="10899140" y="1355090"/>
            <a:ext cx="1499870" cy="50800"/>
          </a:xfrm>
          <a:prstGeom prst="roundRect">
            <a:avLst>
              <a:gd name="adj" fmla="val 54545"/>
            </a:avLst>
          </a:prstGeom>
          <a:solidFill>
            <a:srgbClr val="8C8C8C">
              <a:alpha val="50196"/>
            </a:srgbClr>
          </a:solidFill>
          <a:ln>
            <a:noFill/>
          </a:ln>
        </p:spPr>
      </p:sp>
      <p:sp>
        <p:nvSpPr>
          <p:cNvPr id="8" name="Shape 6"/>
          <p:cNvSpPr/>
          <p:nvPr/>
        </p:nvSpPr>
        <p:spPr>
          <a:xfrm rot="4800000">
            <a:off x="10899140" y="1355090"/>
            <a:ext cx="1499870" cy="50800"/>
          </a:xfrm>
          <a:prstGeom prst="roundRect">
            <a:avLst>
              <a:gd name="adj" fmla="val 54545"/>
            </a:avLst>
          </a:prstGeom>
          <a:solidFill>
            <a:srgbClr val="8C8C8C">
              <a:alpha val="90196"/>
            </a:srgbClr>
          </a:solidFill>
          <a:ln>
            <a:noFill/>
          </a:ln>
        </p:spPr>
      </p:sp>
      <p:sp>
        <p:nvSpPr>
          <p:cNvPr id="9" name="Shape 7"/>
          <p:cNvSpPr/>
          <p:nvPr/>
        </p:nvSpPr>
        <p:spPr>
          <a:xfrm rot="6000000">
            <a:off x="10899140" y="1355090"/>
            <a:ext cx="1499870" cy="50800"/>
          </a:xfrm>
          <a:prstGeom prst="roundRect">
            <a:avLst>
              <a:gd name="adj" fmla="val 54545"/>
            </a:avLst>
          </a:prstGeom>
          <a:solidFill>
            <a:srgbClr val="8C8C8C">
              <a:alpha val="50196"/>
            </a:srgbClr>
          </a:solidFill>
          <a:ln>
            <a:noFill/>
          </a:ln>
        </p:spPr>
      </p:sp>
      <p:sp>
        <p:nvSpPr>
          <p:cNvPr id="10" name="Shape 8"/>
          <p:cNvSpPr/>
          <p:nvPr/>
        </p:nvSpPr>
        <p:spPr>
          <a:xfrm rot="7200000">
            <a:off x="10899140" y="1355090"/>
            <a:ext cx="1499870" cy="50800"/>
          </a:xfrm>
          <a:prstGeom prst="roundRect">
            <a:avLst>
              <a:gd name="adj" fmla="val 54545"/>
            </a:avLst>
          </a:prstGeom>
          <a:solidFill>
            <a:srgbClr val="8C8C8C">
              <a:alpha val="90196"/>
            </a:srgbClr>
          </a:solidFill>
          <a:ln>
            <a:noFill/>
          </a:ln>
        </p:spPr>
      </p:sp>
      <p:sp>
        <p:nvSpPr>
          <p:cNvPr id="11" name="Shape 9"/>
          <p:cNvSpPr/>
          <p:nvPr/>
        </p:nvSpPr>
        <p:spPr>
          <a:xfrm rot="8400000">
            <a:off x="10899140" y="1355090"/>
            <a:ext cx="1499870" cy="50800"/>
          </a:xfrm>
          <a:prstGeom prst="roundRect">
            <a:avLst>
              <a:gd name="adj" fmla="val 54545"/>
            </a:avLst>
          </a:prstGeom>
          <a:solidFill>
            <a:srgbClr val="8C8C8C">
              <a:alpha val="50196"/>
            </a:srgbClr>
          </a:solidFill>
          <a:ln>
            <a:noFill/>
          </a:ln>
        </p:spPr>
      </p:sp>
      <p:sp>
        <p:nvSpPr>
          <p:cNvPr id="12" name="Shape 10"/>
          <p:cNvSpPr/>
          <p:nvPr/>
        </p:nvSpPr>
        <p:spPr>
          <a:xfrm rot="9600000">
            <a:off x="10899140" y="1355090"/>
            <a:ext cx="1499870" cy="50800"/>
          </a:xfrm>
          <a:prstGeom prst="roundRect">
            <a:avLst>
              <a:gd name="adj" fmla="val 54545"/>
            </a:avLst>
          </a:prstGeom>
          <a:solidFill>
            <a:srgbClr val="8C8C8C">
              <a:alpha val="90196"/>
            </a:srgbClr>
          </a:solidFill>
          <a:ln>
            <a:noFill/>
          </a:ln>
        </p:spPr>
      </p:sp>
      <p:sp>
        <p:nvSpPr>
          <p:cNvPr id="13" name="Text 11"/>
          <p:cNvSpPr txBox="1"/>
          <p:nvPr/>
        </p:nvSpPr>
        <p:spPr>
          <a:xfrm>
            <a:off x="759460" y="713740"/>
            <a:ext cx="3812540" cy="2565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 marL="0">
              <a:lnSpc>
                <a:spcPct val="120000"/>
              </a:lnSpc>
            </a:pPr>
            <a:r>
              <a:rPr lang="en-US" sz="1300" noProof="1" b="1" spc="200" kern="0">
                <a:solidFill>
                  <a:srgbClr val="E0E0E0"/>
                </a:solidFill>
                <a:latin typeface="Calibri"/>
                <a:ea typeface="Calibri"/>
              </a:rPr>
              <a:t>NEXT STEPS</a:t>
            </a:r>
            <a:endParaRPr lang="en-US" sz="1300" noProof="1"/>
          </a:p>
        </p:txBody>
      </p:sp>
      <p:sp>
        <p:nvSpPr>
          <p:cNvPr id="14" name="Text 12"/>
          <p:cNvSpPr txBox="1"/>
          <p:nvPr/>
        </p:nvSpPr>
        <p:spPr>
          <a:xfrm>
            <a:off x="740410" y="1042670"/>
            <a:ext cx="8384540" cy="6121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 marL="0">
              <a:lnSpc>
                <a:spcPct val="120000"/>
              </a:lnSpc>
            </a:pPr>
            <a:r>
              <a:rPr lang="en-US" sz="3400" noProof="1" b="1">
                <a:solidFill>
                  <a:srgbClr val="EEF3FA"/>
                </a:solidFill>
                <a:latin typeface="Bookman Old Style"/>
                <a:ea typeface="Bookman Old Style"/>
              </a:rPr>
              <a:t>From Evidence to Recommendation</a:t>
            </a:r>
            <a:endParaRPr lang="en-US" sz="3400" noProof="1"/>
          </a:p>
        </p:txBody>
      </p:sp>
      <p:sp>
        <p:nvSpPr>
          <p:cNvPr id="15" name="Shape 13"/>
          <p:cNvSpPr/>
          <p:nvPr/>
        </p:nvSpPr>
        <p:spPr>
          <a:xfrm>
            <a:off x="759460" y="2231390"/>
            <a:ext cx="657860" cy="657860"/>
          </a:xfrm>
          <a:prstGeom prst="ellipse">
            <a:avLst/>
          </a:prstGeom>
          <a:solidFill>
            <a:srgbClr val="1F1F1F"/>
          </a:solidFill>
          <a:ln w="12700">
            <a:solidFill>
              <a:srgbClr val="D4D4D4"/>
            </a:solidFill>
          </a:ln>
        </p:spPr>
      </p:sp>
      <p:sp>
        <p:nvSpPr>
          <p:cNvPr id="16" name="Text 14"/>
          <p:cNvSpPr txBox="1"/>
          <p:nvPr/>
        </p:nvSpPr>
        <p:spPr>
          <a:xfrm>
            <a:off x="759460" y="2231390"/>
            <a:ext cx="657860" cy="6578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 marL="0">
              <a:lnSpc>
                <a:spcPct val="120000"/>
              </a:lnSpc>
            </a:pPr>
            <a:r>
              <a:rPr lang="en-US" sz="2100" noProof="1" b="1">
                <a:solidFill>
                  <a:srgbClr val="E0E0E0"/>
                </a:solidFill>
                <a:latin typeface="Bookman Old Style"/>
                <a:ea typeface="Bookman Old Style"/>
              </a:rPr>
              <a:t>1</a:t>
            </a:r>
            <a:endParaRPr lang="en-US" sz="2100" noProof="1"/>
          </a:p>
        </p:txBody>
      </p:sp>
      <p:sp>
        <p:nvSpPr>
          <p:cNvPr id="17" name="Text 15"/>
          <p:cNvSpPr txBox="1"/>
          <p:nvPr/>
        </p:nvSpPr>
        <p:spPr>
          <a:xfrm>
            <a:off x="1728470" y="2231390"/>
            <a:ext cx="7772400" cy="35687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 marL="0">
              <a:lnSpc>
                <a:spcPct val="120000"/>
              </a:lnSpc>
            </a:pPr>
            <a:r>
              <a:rPr lang="en-US" sz="1900" noProof="1" b="1">
                <a:solidFill>
                  <a:srgbClr val="EEF3FA"/>
                </a:solidFill>
                <a:latin typeface="Bookman Old Style"/>
                <a:ea typeface="Bookman Old Style"/>
              </a:rPr>
              <a:t>Close the evidence gaps</a:t>
            </a:r>
            <a:endParaRPr lang="en-US" sz="1900" noProof="1"/>
          </a:p>
        </p:txBody>
      </p:sp>
      <p:sp>
        <p:nvSpPr>
          <p:cNvPr id="18" name="Text 16"/>
          <p:cNvSpPr txBox="1"/>
          <p:nvPr/>
        </p:nvSpPr>
        <p:spPr>
          <a:xfrm>
            <a:off x="1728470" y="2614930"/>
            <a:ext cx="8686800" cy="3657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 marL="0">
              <a:lnSpc>
                <a:spcPct val="120000"/>
              </a:lnSpc>
            </a:pPr>
            <a:r>
              <a:rPr lang="en-US" sz="1400" noProof="1">
                <a:solidFill>
                  <a:srgbClr val="8D9AB0"/>
                </a:solidFill>
                <a:latin typeface="Calibri"/>
                <a:ea typeface="Calibri"/>
              </a:rPr>
              <a:t>Run a pricing study and get access to internal customer data.</a:t>
            </a:r>
            <a:endParaRPr lang="en-US" sz="1400" noProof="1"/>
          </a:p>
        </p:txBody>
      </p:sp>
      <p:cxnSp>
        <p:nvCxnSpPr>
          <p:cNvPr id="19" name="Shape 17"/>
          <p:cNvCxnSpPr/>
          <p:nvPr/>
        </p:nvCxnSpPr>
        <p:spPr>
          <a:xfrm>
            <a:off x="1728470" y="3126740"/>
            <a:ext cx="9701530" cy="12700"/>
          </a:xfrm>
          <a:prstGeom prst="straightConnector1">
            <a:avLst/>
          </a:prstGeom>
          <a:ln w="12700">
            <a:solidFill>
              <a:srgbClr val="383838"/>
            </a:solidFill>
          </a:ln>
        </p:spPr>
      </p:cxnSp>
      <p:sp>
        <p:nvSpPr>
          <p:cNvPr id="20" name="Shape 18"/>
          <p:cNvSpPr/>
          <p:nvPr/>
        </p:nvSpPr>
        <p:spPr>
          <a:xfrm>
            <a:off x="759460" y="3355340"/>
            <a:ext cx="657860" cy="657860"/>
          </a:xfrm>
          <a:prstGeom prst="ellipse">
            <a:avLst/>
          </a:prstGeom>
          <a:solidFill>
            <a:srgbClr val="1F1F1F"/>
          </a:solidFill>
          <a:ln w="12700">
            <a:solidFill>
              <a:srgbClr val="D4D4D4"/>
            </a:solidFill>
          </a:ln>
        </p:spPr>
      </p:sp>
      <p:sp>
        <p:nvSpPr>
          <p:cNvPr id="21" name="Text 19"/>
          <p:cNvSpPr txBox="1"/>
          <p:nvPr/>
        </p:nvSpPr>
        <p:spPr>
          <a:xfrm>
            <a:off x="759460" y="3355340"/>
            <a:ext cx="657860" cy="6578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 marL="0">
              <a:lnSpc>
                <a:spcPct val="120000"/>
              </a:lnSpc>
            </a:pPr>
            <a:r>
              <a:rPr lang="en-US" sz="2100" noProof="1" b="1">
                <a:solidFill>
                  <a:srgbClr val="E0E0E0"/>
                </a:solidFill>
                <a:latin typeface="Bookman Old Style"/>
                <a:ea typeface="Bookman Old Style"/>
              </a:rPr>
              <a:t>2</a:t>
            </a:r>
            <a:endParaRPr lang="en-US" sz="2100" noProof="1"/>
          </a:p>
        </p:txBody>
      </p:sp>
      <p:sp>
        <p:nvSpPr>
          <p:cNvPr id="22" name="Text 20"/>
          <p:cNvSpPr txBox="1"/>
          <p:nvPr/>
        </p:nvSpPr>
        <p:spPr>
          <a:xfrm>
            <a:off x="1728470" y="3355340"/>
            <a:ext cx="7772400" cy="35687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 marL="0">
              <a:lnSpc>
                <a:spcPct val="120000"/>
              </a:lnSpc>
            </a:pPr>
            <a:r>
              <a:rPr lang="en-US" sz="1900" noProof="1" b="1">
                <a:solidFill>
                  <a:srgbClr val="EEF3FA"/>
                </a:solidFill>
                <a:latin typeface="Bookman Old Style"/>
                <a:ea typeface="Bookman Old Style"/>
              </a:rPr>
              <a:t>Test the Advisor against real scenarios</a:t>
            </a:r>
            <a:endParaRPr lang="en-US" sz="1900" noProof="1"/>
          </a:p>
        </p:txBody>
      </p:sp>
      <p:sp>
        <p:nvSpPr>
          <p:cNvPr id="23" name="Text 21"/>
          <p:cNvSpPr txBox="1"/>
          <p:nvPr/>
        </p:nvSpPr>
        <p:spPr>
          <a:xfrm>
            <a:off x="1728470" y="3740150"/>
            <a:ext cx="8686800" cy="3657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 marL="0">
              <a:lnSpc>
                <a:spcPct val="120000"/>
              </a:lnSpc>
            </a:pPr>
            <a:r>
              <a:rPr lang="en-US" sz="1400" noProof="1">
                <a:solidFill>
                  <a:srgbClr val="8D9AB0"/>
                </a:solidFill>
                <a:latin typeface="Calibri"/>
                <a:ea typeface="Calibri"/>
              </a:rPr>
              <a:t>See how it reasons through a pricing change or a new competitor move.</a:t>
            </a:r>
            <a:endParaRPr lang="en-US" sz="1400" noProof="1"/>
          </a:p>
        </p:txBody>
      </p:sp>
      <p:cxnSp>
        <p:nvCxnSpPr>
          <p:cNvPr id="24" name="Shape 22"/>
          <p:cNvCxnSpPr/>
          <p:nvPr/>
        </p:nvCxnSpPr>
        <p:spPr>
          <a:xfrm>
            <a:off x="1728470" y="4251960"/>
            <a:ext cx="9701530" cy="12700"/>
          </a:xfrm>
          <a:prstGeom prst="straightConnector1">
            <a:avLst/>
          </a:prstGeom>
          <a:ln w="12700">
            <a:solidFill>
              <a:srgbClr val="383838"/>
            </a:solidFill>
          </a:ln>
        </p:spPr>
      </p:cxnSp>
      <p:sp>
        <p:nvSpPr>
          <p:cNvPr id="25" name="Shape 23"/>
          <p:cNvSpPr/>
          <p:nvPr/>
        </p:nvSpPr>
        <p:spPr>
          <a:xfrm>
            <a:off x="759460" y="4480560"/>
            <a:ext cx="657860" cy="657860"/>
          </a:xfrm>
          <a:prstGeom prst="ellipse">
            <a:avLst/>
          </a:prstGeom>
          <a:solidFill>
            <a:srgbClr val="1F1F1F"/>
          </a:solidFill>
          <a:ln w="12700">
            <a:solidFill>
              <a:srgbClr val="D4D4D4"/>
            </a:solidFill>
          </a:ln>
        </p:spPr>
      </p:sp>
      <p:sp>
        <p:nvSpPr>
          <p:cNvPr id="26" name="Text 24"/>
          <p:cNvSpPr txBox="1"/>
          <p:nvPr/>
        </p:nvSpPr>
        <p:spPr>
          <a:xfrm>
            <a:off x="759460" y="4480560"/>
            <a:ext cx="657860" cy="6578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 marL="0">
              <a:lnSpc>
                <a:spcPct val="120000"/>
              </a:lnSpc>
            </a:pPr>
            <a:r>
              <a:rPr lang="en-US" sz="2100" noProof="1" b="1">
                <a:solidFill>
                  <a:srgbClr val="E0E0E0"/>
                </a:solidFill>
                <a:latin typeface="Bookman Old Style"/>
                <a:ea typeface="Bookman Old Style"/>
              </a:rPr>
              <a:t>3</a:t>
            </a:r>
            <a:endParaRPr lang="en-US" sz="2100" noProof="1"/>
          </a:p>
        </p:txBody>
      </p:sp>
      <p:sp>
        <p:nvSpPr>
          <p:cNvPr id="27" name="Text 25"/>
          <p:cNvSpPr txBox="1"/>
          <p:nvPr/>
        </p:nvSpPr>
        <p:spPr>
          <a:xfrm>
            <a:off x="1728470" y="4480560"/>
            <a:ext cx="7772400" cy="35687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 marL="0">
              <a:lnSpc>
                <a:spcPct val="120000"/>
              </a:lnSpc>
            </a:pPr>
            <a:r>
              <a:rPr lang="en-US" sz="1900" noProof="1" b="1">
                <a:solidFill>
                  <a:srgbClr val="EEF3FA"/>
                </a:solidFill>
                <a:latin typeface="Bookman Old Style"/>
                <a:ea typeface="Bookman Old Style"/>
              </a:rPr>
              <a:t>Bring one clear growth recommendation</a:t>
            </a:r>
            <a:endParaRPr lang="en-US" sz="1900" noProof="1"/>
          </a:p>
        </p:txBody>
      </p:sp>
      <p:sp>
        <p:nvSpPr>
          <p:cNvPr id="28" name="Text 26"/>
          <p:cNvSpPr txBox="1"/>
          <p:nvPr/>
        </p:nvSpPr>
        <p:spPr>
          <a:xfrm>
            <a:off x="1728470" y="4864100"/>
            <a:ext cx="8686800" cy="3657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 marL="0">
              <a:lnSpc>
                <a:spcPct val="120000"/>
              </a:lnSpc>
            </a:pPr>
            <a:r>
              <a:rPr lang="en-US" sz="1400" noProof="1">
                <a:solidFill>
                  <a:srgbClr val="8D9AB0"/>
                </a:solidFill>
                <a:latin typeface="Calibri"/>
                <a:ea typeface="Calibri"/>
              </a:rPr>
              <a:t>Share which area — awareness, price, or range — Comet should focus on, in Session 7.</a:t>
            </a:r>
            <a:endParaRPr lang="en-US" sz="1400" noProof="1"/>
          </a:p>
        </p:txBody>
      </p:sp>
      <p:sp>
        <p:nvSpPr>
          <p:cNvPr id="29" name="Text 27"/>
          <p:cNvSpPr txBox="1"/>
          <p:nvPr/>
        </p:nvSpPr>
        <p:spPr>
          <a:xfrm>
            <a:off x="759460" y="5742940"/>
            <a:ext cx="7617460" cy="4292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 marL="0">
              <a:lnSpc>
                <a:spcPct val="120000"/>
              </a:lnSpc>
            </a:pPr>
            <a:r>
              <a:rPr lang="en-US" sz="2000" noProof="1" b="1" i="1">
                <a:solidFill>
                  <a:srgbClr val="D4D4D4"/>
                </a:solidFill>
                <a:latin typeface="Bookman Old Style"/>
                <a:ea typeface="Bookman Old Style"/>
              </a:rPr>
              <a:t>Thank you — questions welcome.</a:t>
            </a:r>
            <a:endParaRPr lang="en-US" sz="2000" noProof="1"/>
          </a:p>
        </p:txBody>
      </p:sp>
      <p:pic>
        <p:nvPicPr>
          <p:cNvPr id="30" name="ShoePhoto"/>
          <p:cNvPicPr/>
          <p:nvPr/>
        </p:nvPicPr>
        <p:blipFill>
          <a:blip r:embed="rId2"/>
          <a:srcRect t="4068" b="4068"/>
          <a:stretch>
            <a:fillRect/>
          </a:stretch>
        </p:blipFill>
        <p:spPr>
          <a:xfrm>
            <a:off x="8661400" y="4673600"/>
            <a:ext cx="2641600" cy="1485900"/>
          </a:xfrm>
          <a:prstGeom prst="roundRect">
            <a:avLst>
              <a:gd name="adj" fmla="val 8000"/>
            </a:avLst>
          </a:prstGeom>
          <a:ln>
            <a:noFill/>
          </a:ln>
          <a:effectLst>
            <a:outerShdw blurRad="101600" dist="38100" dir="5400000" sx="100000" sy="100000" kx="0" ky="0" algn="bl" rotWithShape="0">
              <a:srgbClr val="000000">
                <a:alpha val="14902"/>
              </a:srgbClr>
            </a:outerShdw>
          </a:effectLst>
        </p:spPr>
      </p:pic>
      <p:sp>
        <p:nvSpPr>
          <p:cNvPr id="31" name="ShoeLabelBg"/>
          <p:cNvSpPr/>
          <p:nvPr/>
        </p:nvSpPr>
        <p:spPr>
          <a:xfrm>
            <a:off x="8661400" y="5956300"/>
            <a:ext cx="2641600" cy="203200"/>
          </a:xfrm>
          <a:prstGeom prst="roundRect">
            <a:avLst>
              <a:gd name="adj" fmla="val 30000"/>
            </a:avLst>
          </a:prstGeom>
          <a:solidFill>
            <a:srgbClr val="000000">
              <a:alpha val="70196"/>
            </a:srgbClr>
          </a:solidFill>
          <a:ln>
            <a:noFill/>
          </a:ln>
        </p:spPr>
      </p:sp>
      <p:sp>
        <p:nvSpPr>
          <p:cNvPr id="32" name="ShoeLabel"/>
          <p:cNvSpPr txBox="1"/>
          <p:nvPr/>
        </p:nvSpPr>
        <p:spPr>
          <a:xfrm>
            <a:off x="8661400" y="5956300"/>
            <a:ext cx="26416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750" noProof="1" b="1" spc="100" kern="0">
                <a:solidFill>
                  <a:srgbClr val="FFFFFF"/>
                </a:solidFill>
                <a:latin typeface="MiSans"/>
                <a:ea typeface="MiSans"/>
              </a:rPr>
              <a:t>COMET DECIBEL</a:t>
            </a:r>
            <a:endParaRPr lang="en-US" sz="750" noProof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 cap="flat" cmpd="sng" algn="ctr">
          <a:solidFill>
            <a:schemeClr val="accent1"/>
          </a:solidFill>
          <a:prstDash val="solid"/>
        </a:ln>
        <a:ln w="12700" cap="flat" cmpd="sng" algn="ctr">
          <a:solidFill>
            <a:schemeClr val="accent1"/>
          </a:solidFill>
          <a:prstDash val="solid"/>
        </a:ln>
        <a:ln w="19050" cap="flat" cmpd="sng" algn="ctr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</a:theme>
</file>

<file path=customXml/provenance.xml><?xml version="1.0" encoding="utf-8"?>
<provenance xmlns="urn:kimi:pptd:provenance">
  <producer>Kimi Slides/Design</producer>
  <statement>Built by Kimi Slides/Design with PPTD</statement>
</provenance>
</file>

<file path=docProps/app.xml><?xml version="1.0" encoding="utf-8"?>
<Properties xmlns="http://schemas.openxmlformats.org/officeDocument/2006/extended-properties">
  <Application>Neo Design</Application>
  <Slides>9</Slides>
</Properties>
</file>

<file path=docProps/core.xml><?xml version="1.0" encoding="utf-8"?>
<cp:coreProperties xmlns:dc="http://purl.org/dc/elements/1.1/" xmlns:cp="http://schemas.openxmlformats.org/package/2006/metadata/core-properties">
  <dc:title>Comet Growth</dc:title>
</cp:coreProperties>
</file>

<file path=docProps/custom.xml><?xml version="1.0" encoding="utf-8"?>
<Properties xmlns:vt="http://schemas.openxmlformats.org/officeDocument/2006/docPropsVTypes" xmlns="http://schemas.openxmlformats.org/officeDocument/2006/custom-properties">
  <property fmtid="{D5CDD505-2E9C-101B-9397-08002B2CF9AE}" pid="4" name="AIGC">
    <vt:lpwstr/>
  </property>
</Properties>
</file>